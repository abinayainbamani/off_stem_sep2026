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30" r:id="rId2"/>
    <p:sldId id="257" r:id="rId3"/>
    <p:sldId id="2613" r:id="rId4"/>
    <p:sldId id="2593" r:id="rId5"/>
    <p:sldId id="2615" r:id="rId6"/>
    <p:sldId id="2616" r:id="rId7"/>
    <p:sldId id="2617" r:id="rId8"/>
    <p:sldId id="2631" r:id="rId9"/>
    <p:sldId id="2632" r:id="rId10"/>
    <p:sldId id="2633" r:id="rId11"/>
    <p:sldId id="2626" r:id="rId12"/>
    <p:sldId id="2635" r:id="rId13"/>
    <p:sldId id="2627" r:id="rId14"/>
    <p:sldId id="2636" r:id="rId15"/>
    <p:sldId id="2628" r:id="rId16"/>
    <p:sldId id="2637" r:id="rId17"/>
    <p:sldId id="2629" r:id="rId18"/>
    <p:sldId id="2641" r:id="rId19"/>
    <p:sldId id="264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A52D61-3E60-7BCD-F0D4-E0EB9D39C760}" v="235" dt="2026-10-06T16:04:44.9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ody slide 3">
    <p:spTree>
      <p:nvGrpSpPr>
        <p:cNvPr id="1" name=""/>
        <p:cNvGrpSpPr/>
        <p:nvPr/>
      </p:nvGrpSpPr>
      <p:grpSpPr>
        <a:xfrm>
          <a:off x="0" y="0"/>
          <a:ext cx="0" cy="0"/>
          <a:chOff x="0" y="0"/>
          <a:chExt cx="0" cy="0"/>
        </a:xfrm>
      </p:grpSpPr>
      <p:pic>
        <p:nvPicPr>
          <p:cNvPr id="6" name="object 7">
            <a:extLst>
              <a:ext uri="{FF2B5EF4-FFF2-40B4-BE49-F238E27FC236}">
                <a16:creationId xmlns:a16="http://schemas.microsoft.com/office/drawing/2014/main" id="{7466F7D4-9D54-E713-0EC7-FF9F961CF5BD}"/>
              </a:ext>
              <a:ext uri="{C183D7F6-B498-43B3-948B-1728B52AA6E4}">
                <adec:decorative xmlns:adec="http://schemas.microsoft.com/office/drawing/2017/decorative" val="1"/>
              </a:ext>
            </a:extLst>
          </p:cNvPr>
          <p:cNvPicPr/>
          <p:nvPr userDrawn="1"/>
        </p:nvPicPr>
        <p:blipFill>
          <a:blip r:embed="rId2" cstate="print"/>
          <a:stretch>
            <a:fillRect/>
          </a:stretch>
        </p:blipFill>
        <p:spPr>
          <a:xfrm>
            <a:off x="1" y="0"/>
            <a:ext cx="12191999" cy="317478"/>
          </a:xfrm>
          <a:prstGeom prst="rect">
            <a:avLst/>
          </a:prstGeom>
        </p:spPr>
      </p:pic>
      <p:sp>
        <p:nvSpPr>
          <p:cNvPr id="2" name="Text Placeholder 2">
            <a:extLst>
              <a:ext uri="{FF2B5EF4-FFF2-40B4-BE49-F238E27FC236}">
                <a16:creationId xmlns:a16="http://schemas.microsoft.com/office/drawing/2014/main" id="{288DBDA7-E430-5E2B-58AE-6A6D8959A299}"/>
              </a:ext>
            </a:extLst>
          </p:cNvPr>
          <p:cNvSpPr>
            <a:spLocks noGrp="1"/>
          </p:cNvSpPr>
          <p:nvPr>
            <p:ph type="body" sz="quarter" idx="17" hasCustomPrompt="1"/>
          </p:nvPr>
        </p:nvSpPr>
        <p:spPr>
          <a:xfrm>
            <a:off x="550681" y="581448"/>
            <a:ext cx="4805943" cy="933180"/>
          </a:xfrm>
          <a:prstGeom prst="rect">
            <a:avLst/>
          </a:prstGeom>
        </p:spPr>
        <p:txBody>
          <a:bodyPr/>
          <a:lstStyle>
            <a:lvl1pPr>
              <a:defRPr sz="3032" spc="182">
                <a:solidFill>
                  <a:srgbClr val="0021A5"/>
                </a:solidFill>
                <a:latin typeface="Gentona Book" pitchFamily="2" charset="77"/>
              </a:defRPr>
            </a:lvl1pPr>
          </a:lstStyle>
          <a:p>
            <a:pPr lvl="0"/>
            <a:r>
              <a:rPr lang="en-US"/>
              <a:t>SLIDE TILE </a:t>
            </a:r>
          </a:p>
          <a:p>
            <a:pPr lvl="0"/>
            <a:r>
              <a:rPr lang="en-US"/>
              <a:t>LINE TWO</a:t>
            </a:r>
          </a:p>
        </p:txBody>
      </p:sp>
      <p:sp>
        <p:nvSpPr>
          <p:cNvPr id="9" name="Text Placeholder 16">
            <a:extLst>
              <a:ext uri="{FF2B5EF4-FFF2-40B4-BE49-F238E27FC236}">
                <a16:creationId xmlns:a16="http://schemas.microsoft.com/office/drawing/2014/main" id="{73F575DB-8229-832C-4E57-77C105732732}"/>
              </a:ext>
            </a:extLst>
          </p:cNvPr>
          <p:cNvSpPr>
            <a:spLocks noGrp="1"/>
          </p:cNvSpPr>
          <p:nvPr>
            <p:ph type="body" sz="quarter" idx="11" hasCustomPrompt="1"/>
          </p:nvPr>
        </p:nvSpPr>
        <p:spPr>
          <a:xfrm>
            <a:off x="563798" y="1950352"/>
            <a:ext cx="3870169" cy="461924"/>
          </a:xfrm>
          <a:prstGeom prst="rect">
            <a:avLst/>
          </a:prstGeom>
        </p:spPr>
        <p:txBody>
          <a:bodyPr/>
          <a:lstStyle>
            <a:lvl1pPr>
              <a:defRPr b="1" i="0">
                <a:solidFill>
                  <a:srgbClr val="FA4616"/>
                </a:solidFill>
                <a:latin typeface="Gentona Book" pitchFamily="2" charset="77"/>
              </a:defRPr>
            </a:lvl1pPr>
          </a:lstStyle>
          <a:p>
            <a:pPr lvl="0"/>
            <a:r>
              <a:rPr lang="en-US"/>
              <a:t>Section Header Here</a:t>
            </a:r>
          </a:p>
        </p:txBody>
      </p:sp>
      <p:sp>
        <p:nvSpPr>
          <p:cNvPr id="10" name="Text Placeholder 18">
            <a:extLst>
              <a:ext uri="{FF2B5EF4-FFF2-40B4-BE49-F238E27FC236}">
                <a16:creationId xmlns:a16="http://schemas.microsoft.com/office/drawing/2014/main" id="{0F018507-E09A-CED0-0C66-8E4EF471B0CC}"/>
              </a:ext>
            </a:extLst>
          </p:cNvPr>
          <p:cNvSpPr>
            <a:spLocks noGrp="1"/>
          </p:cNvSpPr>
          <p:nvPr>
            <p:ph type="body" sz="quarter" idx="12"/>
          </p:nvPr>
        </p:nvSpPr>
        <p:spPr>
          <a:xfrm>
            <a:off x="550681" y="2631102"/>
            <a:ext cx="5129420" cy="373272"/>
          </a:xfrm>
          <a:prstGeom prst="rect">
            <a:avLst/>
          </a:prstGeom>
        </p:spPr>
        <p:txBody>
          <a:bodyPr/>
          <a:lstStyle>
            <a:lvl1pPr marL="346558" indent="-346558">
              <a:buFont typeface="Arial" panose="020B0604020202020204" pitchFamily="34" charset="0"/>
              <a:buChar char="•"/>
              <a:defRPr sz="2426" b="0" i="0">
                <a:solidFill>
                  <a:schemeClr val="tx1"/>
                </a:solidFill>
                <a:latin typeface="Gentona Book" pitchFamily="2" charset="77"/>
              </a:defRPr>
            </a:lvl1pPr>
          </a:lstStyle>
          <a:p>
            <a:pPr lvl="0"/>
            <a:r>
              <a:rPr lang="en-US"/>
              <a:t>Click to edit Master text styles</a:t>
            </a:r>
          </a:p>
        </p:txBody>
      </p:sp>
      <p:sp>
        <p:nvSpPr>
          <p:cNvPr id="11" name="Text Placeholder 18">
            <a:extLst>
              <a:ext uri="{FF2B5EF4-FFF2-40B4-BE49-F238E27FC236}">
                <a16:creationId xmlns:a16="http://schemas.microsoft.com/office/drawing/2014/main" id="{66F36521-5EBB-643F-37D3-61291D523951}"/>
              </a:ext>
            </a:extLst>
          </p:cNvPr>
          <p:cNvSpPr>
            <a:spLocks noGrp="1"/>
          </p:cNvSpPr>
          <p:nvPr>
            <p:ph type="body" sz="quarter" idx="16"/>
          </p:nvPr>
        </p:nvSpPr>
        <p:spPr>
          <a:xfrm>
            <a:off x="6389969" y="2631102"/>
            <a:ext cx="5129420" cy="373272"/>
          </a:xfrm>
          <a:prstGeom prst="rect">
            <a:avLst/>
          </a:prstGeom>
        </p:spPr>
        <p:txBody>
          <a:bodyPr/>
          <a:lstStyle>
            <a:lvl1pPr marL="346558" indent="-346558">
              <a:buFont typeface="Arial" panose="020B0604020202020204" pitchFamily="34" charset="0"/>
              <a:buChar char="•"/>
              <a:defRPr sz="2426" b="0" i="0">
                <a:solidFill>
                  <a:schemeClr val="tx1"/>
                </a:solidFill>
                <a:latin typeface="Gentona Book" pitchFamily="2" charset="77"/>
              </a:defRPr>
            </a:lvl1pPr>
          </a:lstStyle>
          <a:p>
            <a:pPr lvl="0"/>
            <a:r>
              <a:rPr lang="en-US"/>
              <a:t>Click to edit Master text styles</a:t>
            </a:r>
          </a:p>
        </p:txBody>
      </p:sp>
      <p:sp>
        <p:nvSpPr>
          <p:cNvPr id="7" name="object 8">
            <a:extLst>
              <a:ext uri="{FF2B5EF4-FFF2-40B4-BE49-F238E27FC236}">
                <a16:creationId xmlns:a16="http://schemas.microsoft.com/office/drawing/2014/main" id="{949791A2-AE9B-E108-41B3-DBB3E59C281C}"/>
              </a:ext>
              <a:ext uri="{C183D7F6-B498-43B3-948B-1728B52AA6E4}">
                <adec:decorative xmlns:adec="http://schemas.microsoft.com/office/drawing/2017/decorative" val="0"/>
              </a:ext>
            </a:extLst>
          </p:cNvPr>
          <p:cNvSpPr txBox="1">
            <a:spLocks noGrp="1"/>
          </p:cNvSpPr>
          <p:nvPr>
            <p:ph type="sldNum" sz="quarter" idx="4294967295"/>
          </p:nvPr>
        </p:nvSpPr>
        <p:spPr>
          <a:xfrm>
            <a:off x="11811950" y="6521837"/>
            <a:ext cx="219502" cy="191077"/>
          </a:xfrm>
          <a:prstGeom prst="rect">
            <a:avLst/>
          </a:prstGeom>
        </p:spPr>
        <p:txBody>
          <a:bodyPr vert="horz" wrap="square" lIns="0" tIns="55244" rIns="0" bIns="0" rtlCol="0">
            <a:spAutoFit/>
          </a:bodyPr>
          <a:lstStyle>
            <a:lvl1pPr>
              <a:defRPr>
                <a:solidFill>
                  <a:srgbClr val="0021A5"/>
                </a:solidFill>
              </a:defRPr>
            </a:lvl1pPr>
          </a:lstStyle>
          <a:p>
            <a:pPr marL="23104">
              <a:spcBef>
                <a:spcPts val="263"/>
              </a:spcBef>
            </a:pPr>
            <a:fld id="{81D60167-4931-47E6-BA6A-407CBD079E47}" type="slidenum">
              <a:rPr lang="en-US" spc="12" smtClean="0"/>
              <a:pPr marL="23104">
                <a:spcBef>
                  <a:spcPts val="263"/>
                </a:spcBef>
              </a:pPr>
              <a:t>‹#›</a:t>
            </a:fld>
            <a:endParaRPr lang="en-US" spc="12"/>
          </a:p>
        </p:txBody>
      </p:sp>
    </p:spTree>
    <p:extLst>
      <p:ext uri="{BB962C8B-B14F-4D97-AF65-F5344CB8AC3E}">
        <p14:creationId xmlns:p14="http://schemas.microsoft.com/office/powerpoint/2010/main" val="4193746410"/>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Text-Blue-Bo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5736-4A40-BD47-B3F1-E7A50CDF8756}"/>
              </a:ext>
            </a:extLst>
          </p:cNvPr>
          <p:cNvSpPr>
            <a:spLocks noGrp="1"/>
          </p:cNvSpPr>
          <p:nvPr>
            <p:ph type="title" hasCustomPrompt="1"/>
          </p:nvPr>
        </p:nvSpPr>
        <p:spPr>
          <a:xfrm>
            <a:off x="574203" y="723353"/>
            <a:ext cx="11617797" cy="299329"/>
          </a:xfrm>
        </p:spPr>
        <p:txBody>
          <a:bodyPr lIns="0" tIns="0" rIns="0" bIns="0" anchor="t" anchorCtr="0">
            <a:noAutofit/>
          </a:bodyPr>
          <a:lstStyle>
            <a:lvl1pPr algn="l">
              <a:lnSpc>
                <a:spcPct val="90000"/>
              </a:lnSpc>
              <a:defRPr sz="1800" b="1" i="0" spc="100" baseline="0">
                <a:solidFill>
                  <a:schemeClr val="accent2"/>
                </a:solidFill>
                <a:latin typeface="Obviously Extd Medi" pitchFamily="82" charset="77"/>
              </a:defRPr>
            </a:lvl1pPr>
          </a:lstStyle>
          <a:p>
            <a:r>
              <a:rPr lang="en-US"/>
              <a:t>CLICK TO ADD TITLE</a:t>
            </a:r>
          </a:p>
        </p:txBody>
      </p:sp>
      <p:sp>
        <p:nvSpPr>
          <p:cNvPr id="12" name="Text Placeholder 11">
            <a:extLst>
              <a:ext uri="{FF2B5EF4-FFF2-40B4-BE49-F238E27FC236}">
                <a16:creationId xmlns:a16="http://schemas.microsoft.com/office/drawing/2014/main" id="{1446838F-18E7-5445-9286-742625743013}"/>
              </a:ext>
            </a:extLst>
          </p:cNvPr>
          <p:cNvSpPr>
            <a:spLocks noGrp="1"/>
          </p:cNvSpPr>
          <p:nvPr>
            <p:ph type="body" sz="quarter" idx="17" hasCustomPrompt="1"/>
          </p:nvPr>
        </p:nvSpPr>
        <p:spPr>
          <a:xfrm>
            <a:off x="574203" y="435564"/>
            <a:ext cx="11617797" cy="299317"/>
          </a:xfrm>
        </p:spPr>
        <p:txBody>
          <a:bodyPr lIns="0" tIns="0" rIns="0" bIns="0">
            <a:noAutofit/>
          </a:bodyPr>
          <a:lstStyle>
            <a:lvl1pPr marL="0" indent="0">
              <a:buNone/>
              <a:defRPr sz="1200" b="1" i="1" spc="100" baseline="0">
                <a:solidFill>
                  <a:schemeClr val="accent1"/>
                </a:solidFill>
                <a:latin typeface="Obviously Wide Lght" pitchFamily="82" charset="77"/>
              </a:defRPr>
            </a:lvl1pPr>
          </a:lstStyle>
          <a:p>
            <a:pPr lvl="0"/>
            <a:r>
              <a:rPr lang="en-US"/>
              <a:t>CLICK TO ADD SUBTITLE</a:t>
            </a:r>
          </a:p>
        </p:txBody>
      </p:sp>
      <p:sp>
        <p:nvSpPr>
          <p:cNvPr id="42" name="Slide Number Placeholder 5">
            <a:extLst>
              <a:ext uri="{FF2B5EF4-FFF2-40B4-BE49-F238E27FC236}">
                <a16:creationId xmlns:a16="http://schemas.microsoft.com/office/drawing/2014/main" id="{111E1E4F-BBDB-4343-961C-D749405F4462}"/>
              </a:ext>
            </a:extLst>
          </p:cNvPr>
          <p:cNvSpPr txBox="1">
            <a:spLocks/>
          </p:cNvSpPr>
          <p:nvPr userDrawn="1"/>
        </p:nvSpPr>
        <p:spPr>
          <a:xfrm>
            <a:off x="9310571" y="639717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i="0" kern="1200">
                <a:solidFill>
                  <a:schemeClr val="tx1">
                    <a:tint val="75000"/>
                  </a:schemeClr>
                </a:solidFill>
                <a:latin typeface="Gentona Boo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B21313-48D6-BF45-9C7F-8CB603AB36D7}" type="slidenum">
              <a:rPr lang="en-US" smtClean="0">
                <a:solidFill>
                  <a:schemeClr val="accent2"/>
                </a:solidFill>
              </a:rPr>
              <a:pPr/>
              <a:t>‹#›</a:t>
            </a:fld>
            <a:endParaRPr lang="en-US">
              <a:solidFill>
                <a:schemeClr val="accent2"/>
              </a:solidFill>
            </a:endParaRPr>
          </a:p>
        </p:txBody>
      </p:sp>
      <p:cxnSp>
        <p:nvCxnSpPr>
          <p:cNvPr id="23" name="Straight Connector 22">
            <a:extLst>
              <a:ext uri="{FF2B5EF4-FFF2-40B4-BE49-F238E27FC236}">
                <a16:creationId xmlns:a16="http://schemas.microsoft.com/office/drawing/2014/main" id="{CCC92E42-019E-7842-9DEE-520220BA4B23}"/>
              </a:ext>
            </a:extLst>
          </p:cNvPr>
          <p:cNvCxnSpPr/>
          <p:nvPr userDrawn="1"/>
        </p:nvCxnSpPr>
        <p:spPr>
          <a:xfrm>
            <a:off x="4997931" y="4635795"/>
            <a:ext cx="4900981"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E94372F5-EF39-B94F-A628-AEACA925B529}"/>
              </a:ext>
            </a:extLst>
          </p:cNvPr>
          <p:cNvSpPr>
            <a:spLocks noGrp="1"/>
          </p:cNvSpPr>
          <p:nvPr>
            <p:ph type="body" sz="quarter" idx="18" hasCustomPrompt="1"/>
          </p:nvPr>
        </p:nvSpPr>
        <p:spPr>
          <a:xfrm>
            <a:off x="574675" y="2000251"/>
            <a:ext cx="5521325" cy="413340"/>
          </a:xfrm>
        </p:spPr>
        <p:txBody>
          <a:bodyPr lIns="0" tIns="0" rIns="0" bIns="0">
            <a:noAutofit/>
          </a:bodyPr>
          <a:lstStyle>
            <a:lvl1pPr marL="0" indent="0">
              <a:buNone/>
              <a:defRPr sz="3200" b="1" i="0">
                <a:solidFill>
                  <a:schemeClr val="accent1"/>
                </a:solidFill>
                <a:latin typeface="Gentona Book" pitchFamily="2" charset="77"/>
              </a:defRPr>
            </a:lvl1pPr>
          </a:lstStyle>
          <a:p>
            <a:pPr lvl="0"/>
            <a:r>
              <a:rPr lang="en-US"/>
              <a:t>Click to Add Section Header</a:t>
            </a:r>
          </a:p>
        </p:txBody>
      </p:sp>
      <p:sp>
        <p:nvSpPr>
          <p:cNvPr id="13" name="Text Placeholder 12">
            <a:extLst>
              <a:ext uri="{FF2B5EF4-FFF2-40B4-BE49-F238E27FC236}">
                <a16:creationId xmlns:a16="http://schemas.microsoft.com/office/drawing/2014/main" id="{B7C3301D-52FD-F645-BC99-260737FC0B54}"/>
              </a:ext>
            </a:extLst>
          </p:cNvPr>
          <p:cNvSpPr>
            <a:spLocks noGrp="1"/>
          </p:cNvSpPr>
          <p:nvPr>
            <p:ph type="body" sz="quarter" idx="20" hasCustomPrompt="1"/>
          </p:nvPr>
        </p:nvSpPr>
        <p:spPr>
          <a:xfrm>
            <a:off x="574203" y="2629393"/>
            <a:ext cx="5168229" cy="3327400"/>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latin typeface="Gentona Book" pitchFamily="2" charset="77"/>
              </a:defRPr>
            </a:lvl1pPr>
            <a:lvl2pPr marL="11113" indent="0">
              <a:lnSpc>
                <a:spcPct val="100000"/>
              </a:lnSpc>
              <a:buNone/>
              <a:tabLst/>
              <a:defRPr sz="2400" b="0" i="0">
                <a:latin typeface="Gentona Book" pitchFamily="2" charset="77"/>
              </a:defRPr>
            </a:lvl2pPr>
            <a:lvl3pPr marL="11113" indent="0">
              <a:lnSpc>
                <a:spcPct val="100000"/>
              </a:lnSpc>
              <a:buNone/>
              <a:tabLst/>
              <a:defRPr sz="2400" b="0" i="0">
                <a:latin typeface="Gentona Book" pitchFamily="2" charset="77"/>
              </a:defRPr>
            </a:lvl3pPr>
            <a:lvl4pPr marL="11113" indent="0">
              <a:lnSpc>
                <a:spcPct val="100000"/>
              </a:lnSpc>
              <a:buNone/>
              <a:tabLst/>
              <a:defRPr sz="2400" b="0" i="0">
                <a:latin typeface="Gentona Book" pitchFamily="2" charset="77"/>
              </a:defRPr>
            </a:lvl4pPr>
            <a:lvl5pPr marL="11113" indent="0">
              <a:lnSpc>
                <a:spcPct val="100000"/>
              </a:lnSpc>
              <a:buNone/>
              <a:tabLst/>
              <a:defRPr sz="2400" b="0" i="0">
                <a:latin typeface="Gentona Book" pitchFamily="2" charset="77"/>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here to add body copy. Click here to add body copy. Click here to add body copy. Click here to add body copy. Click here to add body copy. Click here to add body copy. Click here to add body copy. Click here to add body copy. Click here to add body copy. Click here to add body copy. </a:t>
            </a:r>
          </a:p>
        </p:txBody>
      </p:sp>
      <p:sp>
        <p:nvSpPr>
          <p:cNvPr id="14" name="Text Placeholder 12">
            <a:extLst>
              <a:ext uri="{FF2B5EF4-FFF2-40B4-BE49-F238E27FC236}">
                <a16:creationId xmlns:a16="http://schemas.microsoft.com/office/drawing/2014/main" id="{A3C8757A-241D-0240-807A-D467571482BB}"/>
              </a:ext>
            </a:extLst>
          </p:cNvPr>
          <p:cNvSpPr>
            <a:spLocks noGrp="1"/>
          </p:cNvSpPr>
          <p:nvPr>
            <p:ph type="body" sz="quarter" idx="21" hasCustomPrompt="1"/>
          </p:nvPr>
        </p:nvSpPr>
        <p:spPr>
          <a:xfrm>
            <a:off x="6145947" y="2629393"/>
            <a:ext cx="5168229" cy="3327400"/>
          </a:xfrm>
        </p:spPr>
        <p:txBody>
          <a:bodyPr lIns="0" tIns="0" rIns="0" bIns="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0" i="0">
                <a:latin typeface="Gentona Book" pitchFamily="2" charset="77"/>
              </a:defRPr>
            </a:lvl1pPr>
            <a:lvl2pPr marL="11113" indent="0">
              <a:lnSpc>
                <a:spcPct val="100000"/>
              </a:lnSpc>
              <a:buNone/>
              <a:tabLst/>
              <a:defRPr sz="2400" b="0" i="0">
                <a:latin typeface="Gentona Book" pitchFamily="2" charset="77"/>
              </a:defRPr>
            </a:lvl2pPr>
            <a:lvl3pPr marL="11113" indent="0">
              <a:lnSpc>
                <a:spcPct val="100000"/>
              </a:lnSpc>
              <a:buNone/>
              <a:tabLst/>
              <a:defRPr sz="2400" b="0" i="0">
                <a:latin typeface="Gentona Book" pitchFamily="2" charset="77"/>
              </a:defRPr>
            </a:lvl3pPr>
            <a:lvl4pPr marL="11113" indent="0">
              <a:lnSpc>
                <a:spcPct val="100000"/>
              </a:lnSpc>
              <a:buNone/>
              <a:tabLst/>
              <a:defRPr sz="2400" b="0" i="0">
                <a:latin typeface="Gentona Book" pitchFamily="2" charset="77"/>
              </a:defRPr>
            </a:lvl4pPr>
            <a:lvl5pPr marL="11113" indent="0">
              <a:lnSpc>
                <a:spcPct val="100000"/>
              </a:lnSpc>
              <a:buNone/>
              <a:tabLst/>
              <a:defRPr sz="2400" b="0" i="0">
                <a:latin typeface="Gentona Book" pitchFamily="2" charset="77"/>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here to add body copy. Click here to add body copy. Click here to add body copy. Click here to add body copy. Click here to add body copy. Click here to add body copy. Click here to add body copy. Click here to add body copy. Click here to add body copy. Click here to add body copy. </a:t>
            </a:r>
          </a:p>
        </p:txBody>
      </p:sp>
      <p:pic>
        <p:nvPicPr>
          <p:cNvPr id="16" name="Picture 15" descr="A picture containing outdoor, blue, high, day&#10;&#10;Description automatically generated">
            <a:extLst>
              <a:ext uri="{FF2B5EF4-FFF2-40B4-BE49-F238E27FC236}">
                <a16:creationId xmlns:a16="http://schemas.microsoft.com/office/drawing/2014/main" id="{04FFA344-6E13-7743-860E-735EE085368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299320"/>
          </a:xfrm>
          <a:prstGeom prst="rect">
            <a:avLst/>
          </a:prstGeom>
        </p:spPr>
      </p:pic>
    </p:spTree>
    <p:extLst>
      <p:ext uri="{BB962C8B-B14F-4D97-AF65-F5344CB8AC3E}">
        <p14:creationId xmlns:p14="http://schemas.microsoft.com/office/powerpoint/2010/main" val="23241591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61432" y="2899375"/>
            <a:ext cx="6308955" cy="3254854"/>
          </a:xfrm>
        </p:spPr>
        <p:txBody>
          <a:bodyPr lIns="0" tIns="0" rIns="0" bIns="0"/>
          <a:lstStyle>
            <a:lvl1pPr>
              <a:defRPr sz="4230" b="1" i="0">
                <a:solidFill>
                  <a:schemeClr val="bg1"/>
                </a:solidFill>
                <a:latin typeface="Obviously-ExtdBlck"/>
                <a:cs typeface="Obviously-ExtdBlck"/>
              </a:defRPr>
            </a:lvl1pPr>
          </a:lstStyle>
          <a:p>
            <a:r>
              <a:rPr lang="en-US"/>
              <a:t>Click to edit Master title style</a:t>
            </a:r>
            <a:endParaRPr/>
          </a:p>
        </p:txBody>
      </p:sp>
      <p:sp>
        <p:nvSpPr>
          <p:cNvPr id="3" name="Holder 3"/>
          <p:cNvSpPr>
            <a:spLocks noGrp="1"/>
          </p:cNvSpPr>
          <p:nvPr>
            <p:ph sz="half" idx="2"/>
          </p:nvPr>
        </p:nvSpPr>
        <p:spPr>
          <a:xfrm>
            <a:off x="609600" y="1577341"/>
            <a:ext cx="5303520" cy="1523494"/>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6278880" y="1577341"/>
            <a:ext cx="5303520" cy="1523494"/>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defRPr sz="660" b="1" i="0">
                <a:solidFill>
                  <a:schemeClr val="bg1"/>
                </a:solidFill>
                <a:latin typeface="Obviously-WideSemi"/>
                <a:cs typeface="Obviously-WideSemi"/>
              </a:defRPr>
            </a:lvl1pPr>
          </a:lstStyle>
          <a:p>
            <a:pPr marL="17330">
              <a:spcBef>
                <a:spcPts val="198"/>
              </a:spcBef>
            </a:pPr>
            <a:fld id="{81D60167-4931-47E6-BA6A-407CBD079E47}" type="slidenum">
              <a:rPr lang="en-US" spc="9" smtClean="0"/>
              <a:pPr marL="17330">
                <a:spcBef>
                  <a:spcPts val="198"/>
                </a:spcBef>
              </a:pPr>
              <a:t>‹#›</a:t>
            </a:fld>
            <a:endParaRPr lang="en-US" spc="9"/>
          </a:p>
        </p:txBody>
      </p:sp>
    </p:spTree>
    <p:extLst>
      <p:ext uri="{BB962C8B-B14F-4D97-AF65-F5344CB8AC3E}">
        <p14:creationId xmlns:p14="http://schemas.microsoft.com/office/powerpoint/2010/main" val="431378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5C28-5112-AB5F-4C44-A483E1DAA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944BB-2236-7CC2-A1CA-35CDC304AA41}"/>
              </a:ext>
            </a:extLst>
          </p:cNvPr>
          <p:cNvSpPr>
            <a:spLocks noGrp="1"/>
          </p:cNvSpPr>
          <p:nvPr>
            <p:ph type="title"/>
          </p:nvPr>
        </p:nvSpPr>
        <p:spPr>
          <a:xfrm>
            <a:off x="1657052" y="510826"/>
            <a:ext cx="12299449" cy="299329"/>
          </a:xfrm>
        </p:spPr>
        <p:txBody>
          <a:bodyPr/>
          <a:lstStyle/>
          <a:p>
            <a:pPr>
              <a:lnSpc>
                <a:spcPts val="9302"/>
              </a:lnSpc>
            </a:pPr>
            <a:r>
              <a:rPr lang="en-US" sz="3200" spc="-25">
                <a:solidFill>
                  <a:schemeClr val="accent2">
                    <a:lumMod val="75000"/>
                  </a:schemeClr>
                </a:solidFill>
                <a:latin typeface="Segoe UI"/>
                <a:ea typeface="+mn-ea"/>
                <a:cs typeface="Segoe UI"/>
              </a:rPr>
              <a:t>INTRODUCTION TO ROBOTICS WITH </a:t>
            </a:r>
            <a:r>
              <a:rPr lang="en-US" sz="3200" spc="-25" err="1">
                <a:solidFill>
                  <a:schemeClr val="accent2">
                    <a:lumMod val="75000"/>
                  </a:schemeClr>
                </a:solidFill>
                <a:latin typeface="Segoe UI"/>
                <a:ea typeface="+mn-ea"/>
                <a:cs typeface="Segoe UI"/>
              </a:rPr>
              <a:t>MICRO:BIT</a:t>
            </a:r>
          </a:p>
        </p:txBody>
      </p:sp>
      <p:pic>
        <p:nvPicPr>
          <p:cNvPr id="3" name="Picture 2" descr="Logos - Branding Portal - University of Florida, Institute of Food and  Agricultural Sciences - UF/IFAS">
            <a:extLst>
              <a:ext uri="{FF2B5EF4-FFF2-40B4-BE49-F238E27FC236}">
                <a16:creationId xmlns:a16="http://schemas.microsoft.com/office/drawing/2014/main" id="{2296DCCE-6149-C5C4-D892-71BE89FCB3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08490" y="5514158"/>
            <a:ext cx="2583509" cy="13438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E475302-DE95-6246-0FC1-C6E23BA71662}"/>
              </a:ext>
            </a:extLst>
          </p:cNvPr>
          <p:cNvSpPr txBox="1"/>
          <p:nvPr/>
        </p:nvSpPr>
        <p:spPr>
          <a:xfrm>
            <a:off x="-224273" y="1450747"/>
            <a:ext cx="12192000" cy="2123658"/>
          </a:xfrm>
          <a:prstGeom prst="rect">
            <a:avLst/>
          </a:prstGeom>
          <a:noFill/>
        </p:spPr>
        <p:txBody>
          <a:bodyPr wrap="square" lIns="91440" tIns="45720" rIns="91440" bIns="45720" anchor="t">
            <a:spAutoFit/>
          </a:bodyPr>
          <a:lstStyle/>
          <a:p>
            <a:pPr algn="ctr"/>
            <a:r>
              <a:rPr lang="en-US" sz="2400" b="1" dirty="0">
                <a:solidFill>
                  <a:srgbClr val="156082">
                    <a:lumMod val="75000"/>
                  </a:srgbClr>
                </a:solidFill>
                <a:latin typeface="Times New Roman"/>
                <a:cs typeface="Times New Roman"/>
              </a:rPr>
              <a:t>DAY 2 </a:t>
            </a:r>
          </a:p>
          <a:p>
            <a:pPr algn="ctr"/>
            <a:r>
              <a:rPr lang="en-US" sz="2400" b="1" dirty="0">
                <a:solidFill>
                  <a:srgbClr val="156082">
                    <a:lumMod val="75000"/>
                  </a:srgbClr>
                </a:solidFill>
                <a:latin typeface="Times New Roman"/>
                <a:cs typeface="Times New Roman"/>
              </a:rPr>
              <a:t>Oct 6</a:t>
            </a:r>
            <a:r>
              <a:rPr lang="en-US" sz="2400" b="1" baseline="30000" dirty="0">
                <a:solidFill>
                  <a:srgbClr val="156082">
                    <a:lumMod val="75000"/>
                  </a:srgbClr>
                </a:solidFill>
                <a:latin typeface="Times New Roman"/>
                <a:cs typeface="Times New Roman"/>
              </a:rPr>
              <a:t>th</a:t>
            </a:r>
            <a:r>
              <a:rPr lang="en-US" sz="2400" b="1" dirty="0">
                <a:solidFill>
                  <a:srgbClr val="156082">
                    <a:lumMod val="75000"/>
                  </a:srgbClr>
                </a:solidFill>
                <a:latin typeface="Times New Roman"/>
                <a:cs typeface="Times New Roman"/>
              </a:rPr>
              <a:t> ,2026</a:t>
            </a:r>
          </a:p>
          <a:p>
            <a:pPr algn="ctr"/>
            <a:endParaRPr lang="en-US" dirty="0"/>
          </a:p>
          <a:p>
            <a:pPr lvl="0" algn="ctr"/>
            <a:endParaRPr lang="en-US" sz="2400" dirty="0">
              <a:latin typeface="Times New Roman" panose="02020603050405020304" pitchFamily="18" charset="0"/>
              <a:cs typeface="Times New Roman" panose="02020603050405020304" pitchFamily="18" charset="0"/>
            </a:endParaRPr>
          </a:p>
          <a:p>
            <a:pPr fontAlgn="base"/>
            <a:endParaRPr lang="en-US" dirty="0"/>
          </a:p>
          <a:p>
            <a:pPr lvl="0" algn="ctr"/>
            <a:endParaRPr kumimoji="0" lang="en-US" sz="2400" b="0" i="0" u="none" strike="noStrike" kern="1200" cap="none" spc="0" normalizeH="0" baseline="0" noProof="0" dirty="0">
              <a:ln>
                <a:noFill/>
              </a:ln>
              <a:solidFill>
                <a:srgbClr val="156082">
                  <a:lumMod val="75000"/>
                </a:srgbClr>
              </a:solidFill>
              <a:effectLst/>
              <a:uLnTx/>
              <a:uFillTx/>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236E4EF-39D1-1208-B247-F147181E45CB}"/>
              </a:ext>
            </a:extLst>
          </p:cNvPr>
          <p:cNvPicPr>
            <a:picLocks noChangeAspect="1"/>
          </p:cNvPicPr>
          <p:nvPr/>
        </p:nvPicPr>
        <p:blipFill>
          <a:blip r:embed="rId3"/>
          <a:stretch>
            <a:fillRect/>
          </a:stretch>
        </p:blipFill>
        <p:spPr>
          <a:xfrm>
            <a:off x="3818164" y="2187689"/>
            <a:ext cx="4557713" cy="3064668"/>
          </a:xfrm>
          <a:prstGeom prst="rect">
            <a:avLst/>
          </a:prstGeom>
        </p:spPr>
      </p:pic>
      <p:sp>
        <p:nvSpPr>
          <p:cNvPr id="4" name="TextBox 3">
            <a:extLst>
              <a:ext uri="{FF2B5EF4-FFF2-40B4-BE49-F238E27FC236}">
                <a16:creationId xmlns:a16="http://schemas.microsoft.com/office/drawing/2014/main" id="{4F62926A-5ECD-3A91-7DF0-016774C30CA1}"/>
              </a:ext>
            </a:extLst>
          </p:cNvPr>
          <p:cNvSpPr txBox="1"/>
          <p:nvPr/>
        </p:nvSpPr>
        <p:spPr>
          <a:xfrm>
            <a:off x="3847028" y="5520010"/>
            <a:ext cx="404690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err="1">
                <a:solidFill>
                  <a:schemeClr val="tx2"/>
                </a:solidFill>
                <a:latin typeface="Times New Roman"/>
                <a:cs typeface="Times New Roman"/>
              </a:rPr>
              <a:t>Dr.Abinaya</a:t>
            </a:r>
            <a:r>
              <a:rPr lang="en-US" sz="2400" b="1" dirty="0">
                <a:solidFill>
                  <a:schemeClr val="tx2"/>
                </a:solidFill>
                <a:latin typeface="Times New Roman"/>
                <a:cs typeface="Times New Roman"/>
              </a:rPr>
              <a:t> Inbamani</a:t>
            </a:r>
            <a:endParaRPr lang="en-US"/>
          </a:p>
          <a:p>
            <a:pPr algn="ctr"/>
            <a:r>
              <a:rPr lang="en-US" sz="2400" b="1" dirty="0">
                <a:solidFill>
                  <a:schemeClr val="tx2"/>
                </a:solidFill>
                <a:latin typeface="Times New Roman"/>
                <a:cs typeface="Times New Roman"/>
              </a:rPr>
              <a:t>Post Doctoral Associate</a:t>
            </a:r>
          </a:p>
        </p:txBody>
      </p:sp>
    </p:spTree>
    <p:extLst>
      <p:ext uri="{BB962C8B-B14F-4D97-AF65-F5344CB8AC3E}">
        <p14:creationId xmlns:p14="http://schemas.microsoft.com/office/powerpoint/2010/main" val="2778506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9598" y="777306"/>
            <a:ext cx="7412236" cy="508927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4960"/>
              </a:lnSpc>
              <a:spcBef>
                <a:spcPct val="0"/>
              </a:spcBef>
            </a:pPr>
            <a:r>
              <a:rPr lang="en-US" sz="3543" b="1">
                <a:solidFill>
                  <a:srgbClr val="134403"/>
                </a:solidFill>
                <a:latin typeface="Atkinson Hyperlegible Bold"/>
                <a:ea typeface="Atkinson Hyperlegible Bold"/>
                <a:cs typeface="Atkinson Hyperlegible Bold"/>
                <a:sym typeface="Atkinson Hyperlegible Bold"/>
              </a:rPr>
              <a:t>The 4-H Pledge ​</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I pledge my head to clearer thinking, ​</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My heart to greater loyalty, ​</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My hands to larger service, ​</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And my health to better living, ​</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For my club, my community, ​</a:t>
            </a:r>
          </a:p>
          <a:p>
            <a:pPr algn="ctr">
              <a:lnSpc>
                <a:spcPts val="4960"/>
              </a:lnSpc>
              <a:spcBef>
                <a:spcPct val="0"/>
              </a:spcBef>
            </a:pPr>
            <a:r>
              <a:rPr lang="en-US" sz="3543">
                <a:solidFill>
                  <a:srgbClr val="000000"/>
                </a:solidFill>
                <a:latin typeface="Atkinson Hyperlegible"/>
                <a:ea typeface="Atkinson Hyperlegible"/>
                <a:cs typeface="Atkinson Hyperlegible"/>
                <a:sym typeface="Atkinson Hyperlegible"/>
              </a:rPr>
              <a:t>My country, and my world.</a:t>
            </a:r>
          </a:p>
        </p:txBody>
      </p:sp>
      <p:sp>
        <p:nvSpPr>
          <p:cNvPr id="4" name="Title 3">
            <a:extLst>
              <a:ext uri="{FF2B5EF4-FFF2-40B4-BE49-F238E27FC236}">
                <a16:creationId xmlns:a16="http://schemas.microsoft.com/office/drawing/2014/main" id="{FFBF61BC-D382-137B-0821-D965D8012A26}"/>
              </a:ext>
            </a:extLst>
          </p:cNvPr>
          <p:cNvSpPr>
            <a:spLocks noGrp="1"/>
          </p:cNvSpPr>
          <p:nvPr>
            <p:ph type="title" idx="4294967295"/>
          </p:nvPr>
        </p:nvSpPr>
        <p:spPr>
          <a:xfrm>
            <a:off x="304800" y="-762000"/>
            <a:ext cx="5486400" cy="762000"/>
          </a:xfrm>
        </p:spPr>
        <p:txBody>
          <a:bodyPr vert="horz" lIns="60960" tIns="30480" rIns="60960" bIns="30480" rtlCol="0" anchor="b">
            <a:norm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FB18D86-26BC-3BDD-D14E-076D9110398C}"/>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45462A59-FB95-B680-3926-BF96E37C5E81}"/>
              </a:ext>
            </a:extLst>
          </p:cNvPr>
          <p:cNvPicPr/>
          <p:nvPr/>
        </p:nvPicPr>
        <p:blipFill>
          <a:blip r:embed="rId2" cstate="print"/>
          <a:stretch>
            <a:fillRect/>
          </a:stretch>
        </p:blipFill>
        <p:spPr>
          <a:xfrm>
            <a:off x="4715" y="0"/>
            <a:ext cx="12192321" cy="223619"/>
          </a:xfrm>
          <a:prstGeom prst="rect">
            <a:avLst/>
          </a:prstGeom>
        </p:spPr>
      </p:pic>
      <p:sp>
        <p:nvSpPr>
          <p:cNvPr id="2" name="TextBox 1">
            <a:extLst>
              <a:ext uri="{FF2B5EF4-FFF2-40B4-BE49-F238E27FC236}">
                <a16:creationId xmlns:a16="http://schemas.microsoft.com/office/drawing/2014/main" id="{212D534A-20B4-0FEE-5E94-EC846EA16EAD}"/>
              </a:ext>
            </a:extLst>
          </p:cNvPr>
          <p:cNvSpPr txBox="1"/>
          <p:nvPr/>
        </p:nvSpPr>
        <p:spPr>
          <a:xfrm>
            <a:off x="195943" y="1005115"/>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p>
          <a:p>
            <a:r>
              <a:rPr lang="en-US"/>
              <a:t> </a:t>
            </a:r>
            <a:r>
              <a:rPr lang="en-US" b="1">
                <a:solidFill>
                  <a:srgbClr val="C00000"/>
                </a:solidFill>
              </a:rPr>
              <a:t>Humans</a:t>
            </a:r>
          </a:p>
          <a:p>
            <a:endParaRPr lang="en-US" b="1"/>
          </a:p>
          <a:p>
            <a:pPr>
              <a:buFont typeface=""/>
              <a:buChar char="•"/>
            </a:pPr>
            <a:r>
              <a:rPr lang="en-US" b="1"/>
              <a:t>Input:</a:t>
            </a:r>
            <a:r>
              <a:rPr lang="en-US"/>
              <a:t> We use our eyes, ears, and sense of touch to observe our surroundings. </a:t>
            </a:r>
          </a:p>
          <a:p>
            <a:pPr>
              <a:buFont typeface=""/>
              <a:buChar char="•"/>
            </a:pPr>
            <a:r>
              <a:rPr lang="en-US" b="1"/>
              <a:t>Processing:</a:t>
            </a:r>
            <a:r>
              <a:rPr lang="en-US"/>
              <a:t> Our brain decides what action to take. </a:t>
            </a:r>
          </a:p>
          <a:p>
            <a:pPr>
              <a:buFont typeface=""/>
              <a:buChar char="•"/>
            </a:pPr>
            <a:r>
              <a:rPr lang="en-US" b="1"/>
              <a:t>Output:</a:t>
            </a:r>
            <a:r>
              <a:rPr lang="en-US"/>
              <a:t> Our hands and feet control the steering wheel, brakes, and accelerator. </a:t>
            </a:r>
          </a:p>
          <a:p>
            <a:endParaRPr lang="en-US"/>
          </a:p>
          <a:p>
            <a:endParaRPr lang="en-US"/>
          </a:p>
        </p:txBody>
      </p:sp>
      <p:sp>
        <p:nvSpPr>
          <p:cNvPr id="4" name="TextBox 3">
            <a:extLst>
              <a:ext uri="{FF2B5EF4-FFF2-40B4-BE49-F238E27FC236}">
                <a16:creationId xmlns:a16="http://schemas.microsoft.com/office/drawing/2014/main" id="{A14780E1-9889-536D-7572-E45D447DB743}"/>
              </a:ext>
            </a:extLst>
          </p:cNvPr>
          <p:cNvSpPr txBox="1"/>
          <p:nvPr/>
        </p:nvSpPr>
        <p:spPr>
          <a:xfrm>
            <a:off x="94343" y="3566887"/>
            <a:ext cx="590731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800" b="0" i="0" u="none" strike="noStrike" baseline="0">
                <a:solidFill>
                  <a:srgbClr val="000000"/>
                </a:solidFill>
                <a:latin typeface="Aptos"/>
                <a:ea typeface="Segoe UI"/>
                <a:cs typeface="Segoe UI"/>
              </a:rPr>
              <a:t> </a:t>
            </a:r>
            <a:r>
              <a:rPr lang="en-US" sz="1800" b="1" i="0" u="none" strike="noStrike" baseline="0">
                <a:solidFill>
                  <a:srgbClr val="C00000"/>
                </a:solidFill>
                <a:latin typeface="Aptos"/>
                <a:ea typeface="Segoe UI"/>
                <a:cs typeface="Segoe UI"/>
              </a:rPr>
              <a:t>Robots</a:t>
            </a:r>
            <a:r>
              <a:rPr lang="en-US" sz="1800" b="0" i="0">
                <a:solidFill>
                  <a:srgbClr val="C00000"/>
                </a:solidFill>
                <a:latin typeface="Aptos"/>
                <a:ea typeface="Segoe UI"/>
                <a:cs typeface="Segoe UI"/>
              </a:rPr>
              <a:t>​</a:t>
            </a:r>
          </a:p>
          <a:p>
            <a:endParaRPr lang="en-US">
              <a:solidFill>
                <a:srgbClr val="000000"/>
              </a:solidFill>
              <a:latin typeface="Aptos"/>
              <a:ea typeface="Arial"/>
              <a:cs typeface="Segoe UI"/>
            </a:endParaRPr>
          </a:p>
          <a:p>
            <a:pPr marL="228600" lvl="0" indent="-228600" algn="l" rtl="0">
              <a:buFont typeface=""/>
              <a:buChar char="•"/>
            </a:pPr>
            <a:r>
              <a:rPr lang="en-US" sz="1800" b="1" i="0" u="none" strike="noStrike" baseline="0">
                <a:solidFill>
                  <a:srgbClr val="000000"/>
                </a:solidFill>
                <a:latin typeface="Aptos"/>
                <a:ea typeface="Arial"/>
                <a:cs typeface="Arial"/>
              </a:rPr>
              <a:t>Input:</a:t>
            </a:r>
            <a:r>
              <a:rPr lang="en-US" sz="1800" b="0" i="0" u="none" strike="noStrike" baseline="0">
                <a:solidFill>
                  <a:srgbClr val="000000"/>
                </a:solidFill>
                <a:latin typeface="Aptos"/>
                <a:ea typeface="Arial"/>
                <a:cs typeface="Arial"/>
              </a:rPr>
              <a:t> Sensors collect information from the environment. </a:t>
            </a:r>
            <a:r>
              <a:rPr lang="en-US" sz="1800" b="0" i="0">
                <a:solidFill>
                  <a:srgbClr val="000000"/>
                </a:solidFill>
                <a:latin typeface="Aptos"/>
                <a:ea typeface="Arial"/>
                <a:cs typeface="Arial"/>
              </a:rPr>
              <a:t>​</a:t>
            </a:r>
          </a:p>
          <a:p>
            <a:pPr marL="228600" indent="-228600">
              <a:buFont typeface=""/>
              <a:buChar char="•"/>
            </a:pPr>
            <a:r>
              <a:rPr lang="en-US" sz="1800" b="1" i="0" u="none" strike="noStrike" baseline="0">
                <a:solidFill>
                  <a:srgbClr val="000000"/>
                </a:solidFill>
                <a:latin typeface="Aptos"/>
                <a:ea typeface="Arial"/>
                <a:cs typeface="Arial"/>
              </a:rPr>
              <a:t>Processing:</a:t>
            </a:r>
            <a:r>
              <a:rPr lang="en-US" sz="1800" b="0" i="0" u="none" strike="noStrike" baseline="0">
                <a:solidFill>
                  <a:srgbClr val="000000"/>
                </a:solidFill>
                <a:latin typeface="Aptos"/>
                <a:ea typeface="Arial"/>
                <a:cs typeface="Arial"/>
              </a:rPr>
              <a:t> The microcontroller (brain) analyzes </a:t>
            </a:r>
            <a:r>
              <a:rPr lang="en-US">
                <a:solidFill>
                  <a:srgbClr val="000000"/>
                </a:solidFill>
                <a:latin typeface="Aptos"/>
                <a:ea typeface="Arial"/>
                <a:cs typeface="Arial"/>
              </a:rPr>
              <a:t>the information</a:t>
            </a:r>
            <a:r>
              <a:rPr lang="en-US" sz="1800" b="0" i="0" u="none" strike="noStrike" baseline="0">
                <a:solidFill>
                  <a:srgbClr val="000000"/>
                </a:solidFill>
                <a:latin typeface="Aptos"/>
                <a:ea typeface="Arial"/>
                <a:cs typeface="Arial"/>
              </a:rPr>
              <a:t>. </a:t>
            </a:r>
            <a:r>
              <a:rPr lang="en-US" sz="1800" b="0" i="0">
                <a:solidFill>
                  <a:srgbClr val="000000"/>
                </a:solidFill>
                <a:latin typeface="Aptos"/>
                <a:ea typeface="Arial"/>
                <a:cs typeface="Arial"/>
              </a:rPr>
              <a:t>​</a:t>
            </a:r>
          </a:p>
          <a:p>
            <a:pPr marL="228600" lvl="0" indent="-228600" algn="l" rtl="0">
              <a:buFont typeface=""/>
              <a:buChar char="•"/>
            </a:pPr>
            <a:r>
              <a:rPr lang="en-US" sz="1800" b="1" i="0" u="none" strike="noStrike" baseline="0">
                <a:solidFill>
                  <a:srgbClr val="000000"/>
                </a:solidFill>
                <a:latin typeface="Aptos"/>
                <a:ea typeface="Arial"/>
                <a:cs typeface="Arial"/>
              </a:rPr>
              <a:t>Output:</a:t>
            </a:r>
            <a:r>
              <a:rPr lang="en-US" sz="1800" b="0" i="0" u="none" strike="noStrike" baseline="0">
                <a:solidFill>
                  <a:srgbClr val="000000"/>
                </a:solidFill>
                <a:latin typeface="Aptos"/>
                <a:ea typeface="Arial"/>
                <a:cs typeface="Arial"/>
              </a:rPr>
              <a:t> Motors and actuators perform the required action</a:t>
            </a:r>
            <a:r>
              <a:rPr lang="en-US" sz="1800" b="0" i="0">
                <a:solidFill>
                  <a:srgbClr val="000000"/>
                </a:solidFill>
                <a:latin typeface="Aptos"/>
                <a:ea typeface="Arial"/>
                <a:cs typeface="Arial"/>
              </a:rPr>
              <a:t>​</a:t>
            </a:r>
          </a:p>
          <a:p>
            <a:pPr algn="ctr" rtl="0"/>
            <a:r>
              <a:rPr lang="en-US" sz="1800" b="0" i="0">
                <a:solidFill>
                  <a:srgbClr val="000000"/>
                </a:solidFill>
                <a:latin typeface="Aptos"/>
                <a:ea typeface="Segoe UI"/>
                <a:cs typeface="Segoe UI"/>
              </a:rPr>
              <a:t>​</a:t>
            </a:r>
          </a:p>
          <a:p>
            <a:pPr algn="ctr"/>
            <a:endParaRPr lang="en-US"/>
          </a:p>
        </p:txBody>
      </p:sp>
      <p:sp>
        <p:nvSpPr>
          <p:cNvPr id="6" name="TextBox 5">
            <a:extLst>
              <a:ext uri="{FF2B5EF4-FFF2-40B4-BE49-F238E27FC236}">
                <a16:creationId xmlns:a16="http://schemas.microsoft.com/office/drawing/2014/main" id="{8D8A922D-48F3-1083-59A4-F51865F2DEC4}"/>
              </a:ext>
            </a:extLst>
          </p:cNvPr>
          <p:cNvSpPr txBox="1"/>
          <p:nvPr/>
        </p:nvSpPr>
        <p:spPr>
          <a:xfrm>
            <a:off x="195943" y="417286"/>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a:solidFill>
                  <a:schemeClr val="accent2">
                    <a:lumMod val="75000"/>
                  </a:schemeClr>
                </a:solidFill>
                <a:latin typeface="Segoe UI"/>
                <a:cs typeface="Segoe UI"/>
              </a:rPr>
              <a:t>HUMANS VS. ROBOTS</a:t>
            </a:r>
          </a:p>
          <a:p>
            <a:pPr algn="ctr"/>
            <a:endParaRPr lang="en-US"/>
          </a:p>
        </p:txBody>
      </p:sp>
      <p:pic>
        <p:nvPicPr>
          <p:cNvPr id="8" name="Picture 7" descr="diagram, engineering drawing">
            <a:extLst>
              <a:ext uri="{FF2B5EF4-FFF2-40B4-BE49-F238E27FC236}">
                <a16:creationId xmlns:a16="http://schemas.microsoft.com/office/drawing/2014/main" id="{8225FDBF-34C9-3F61-3B50-1ECF865F4F59}"/>
              </a:ext>
            </a:extLst>
          </p:cNvPr>
          <p:cNvPicPr>
            <a:picLocks noChangeAspect="1"/>
          </p:cNvPicPr>
          <p:nvPr/>
        </p:nvPicPr>
        <p:blipFill>
          <a:blip r:embed="rId3"/>
          <a:srcRect r="-138" b="113"/>
          <a:stretch>
            <a:fillRect/>
          </a:stretch>
        </p:blipFill>
        <p:spPr>
          <a:xfrm>
            <a:off x="6292623" y="368981"/>
            <a:ext cx="5274600" cy="6403066"/>
          </a:xfrm>
          <a:prstGeom prst="rect">
            <a:avLst/>
          </a:prstGeom>
        </p:spPr>
      </p:pic>
    </p:spTree>
    <p:extLst>
      <p:ext uri="{BB962C8B-B14F-4D97-AF65-F5344CB8AC3E}">
        <p14:creationId xmlns:p14="http://schemas.microsoft.com/office/powerpoint/2010/main" val="186862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B7FBF1-228C-0B1B-95AF-1A274A5D5C4F}"/>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6CF0DDEF-F99A-79BC-35CB-F4584A9E1DC3}"/>
              </a:ext>
            </a:extLst>
          </p:cNvPr>
          <p:cNvSpPr txBox="1"/>
          <p:nvPr/>
        </p:nvSpPr>
        <p:spPr>
          <a:xfrm>
            <a:off x="430187" y="328386"/>
            <a:ext cx="4702174" cy="505567"/>
          </a:xfrm>
          <a:prstGeom prst="rect">
            <a:avLst/>
          </a:prstGeom>
        </p:spPr>
        <p:txBody>
          <a:bodyPr vert="horz" wrap="square" lIns="0" tIns="12998" rIns="0" bIns="0" rtlCol="0" anchor="t">
            <a:spAutoFit/>
          </a:bodyPr>
          <a:lstStyle>
            <a:defPPr>
              <a:defRPr lang="en-US"/>
            </a:defPPr>
            <a:lvl1pPr marL="0" algn="l" defTabSz="660014" rtl="0" eaLnBrk="1" latinLnBrk="0" hangingPunct="1">
              <a:defRPr sz="1299" kern="1200">
                <a:solidFill>
                  <a:schemeClr val="tx1"/>
                </a:solidFill>
                <a:latin typeface="+mn-lt"/>
                <a:ea typeface="+mn-ea"/>
                <a:cs typeface="+mn-cs"/>
              </a:defRPr>
            </a:lvl1pPr>
            <a:lvl2pPr marL="330007" algn="l" defTabSz="660014" rtl="0" eaLnBrk="1" latinLnBrk="0" hangingPunct="1">
              <a:defRPr sz="1299" kern="1200">
                <a:solidFill>
                  <a:schemeClr val="tx1"/>
                </a:solidFill>
                <a:latin typeface="+mn-lt"/>
                <a:ea typeface="+mn-ea"/>
                <a:cs typeface="+mn-cs"/>
              </a:defRPr>
            </a:lvl2pPr>
            <a:lvl3pPr marL="660014" algn="l" defTabSz="660014" rtl="0" eaLnBrk="1" latinLnBrk="0" hangingPunct="1">
              <a:defRPr sz="1299" kern="1200">
                <a:solidFill>
                  <a:schemeClr val="tx1"/>
                </a:solidFill>
                <a:latin typeface="+mn-lt"/>
                <a:ea typeface="+mn-ea"/>
                <a:cs typeface="+mn-cs"/>
              </a:defRPr>
            </a:lvl3pPr>
            <a:lvl4pPr marL="990021" algn="l" defTabSz="660014" rtl="0" eaLnBrk="1" latinLnBrk="0" hangingPunct="1">
              <a:defRPr sz="1299" kern="1200">
                <a:solidFill>
                  <a:schemeClr val="tx1"/>
                </a:solidFill>
                <a:latin typeface="+mn-lt"/>
                <a:ea typeface="+mn-ea"/>
                <a:cs typeface="+mn-cs"/>
              </a:defRPr>
            </a:lvl4pPr>
            <a:lvl5pPr marL="1320028" algn="l" defTabSz="660014" rtl="0" eaLnBrk="1" latinLnBrk="0" hangingPunct="1">
              <a:defRPr sz="1299" kern="1200">
                <a:solidFill>
                  <a:schemeClr val="tx1"/>
                </a:solidFill>
                <a:latin typeface="+mn-lt"/>
                <a:ea typeface="+mn-ea"/>
                <a:cs typeface="+mn-cs"/>
              </a:defRPr>
            </a:lvl5pPr>
            <a:lvl6pPr marL="1650035" algn="l" defTabSz="660014" rtl="0" eaLnBrk="1" latinLnBrk="0" hangingPunct="1">
              <a:defRPr sz="1299" kern="1200">
                <a:solidFill>
                  <a:schemeClr val="tx1"/>
                </a:solidFill>
                <a:latin typeface="+mn-lt"/>
                <a:ea typeface="+mn-ea"/>
                <a:cs typeface="+mn-cs"/>
              </a:defRPr>
            </a:lvl6pPr>
            <a:lvl7pPr marL="1980042" algn="l" defTabSz="660014" rtl="0" eaLnBrk="1" latinLnBrk="0" hangingPunct="1">
              <a:defRPr sz="1299" kern="1200">
                <a:solidFill>
                  <a:schemeClr val="tx1"/>
                </a:solidFill>
                <a:latin typeface="+mn-lt"/>
                <a:ea typeface="+mn-ea"/>
                <a:cs typeface="+mn-cs"/>
              </a:defRPr>
            </a:lvl7pPr>
            <a:lvl8pPr marL="2310049" algn="l" defTabSz="660014" rtl="0" eaLnBrk="1" latinLnBrk="0" hangingPunct="1">
              <a:defRPr sz="1299" kern="1200">
                <a:solidFill>
                  <a:schemeClr val="tx1"/>
                </a:solidFill>
                <a:latin typeface="+mn-lt"/>
                <a:ea typeface="+mn-ea"/>
                <a:cs typeface="+mn-cs"/>
              </a:defRPr>
            </a:lvl8pPr>
            <a:lvl9pPr marL="2640056" algn="l" defTabSz="660014" rtl="0" eaLnBrk="1" latinLnBrk="0" hangingPunct="1">
              <a:defRPr sz="1299" kern="1200">
                <a:solidFill>
                  <a:schemeClr val="tx1"/>
                </a:solidFill>
                <a:latin typeface="+mn-lt"/>
                <a:ea typeface="+mn-ea"/>
                <a:cs typeface="+mn-cs"/>
              </a:defRPr>
            </a:lvl9pPr>
          </a:lstStyle>
          <a:p>
            <a:r>
              <a:rPr lang="en-US" sz="3200" b="1" spc="-25">
                <a:solidFill>
                  <a:schemeClr val="accent2">
                    <a:lumMod val="75000"/>
                  </a:schemeClr>
                </a:solidFill>
                <a:latin typeface="Segoe UI"/>
                <a:cs typeface="Segoe UI"/>
              </a:rPr>
              <a:t>MICROBIT</a:t>
            </a:r>
            <a:r>
              <a:rPr lang="en-US" sz="1800" b="1" spc="-25">
                <a:solidFill>
                  <a:schemeClr val="accent2">
                    <a:lumMod val="75000"/>
                  </a:schemeClr>
                </a:solidFill>
                <a:latin typeface="Segoe UI"/>
                <a:cs typeface="Segoe UI"/>
              </a:rPr>
              <a:t> </a:t>
            </a:r>
            <a:endParaRPr lang="en-US">
              <a:solidFill>
                <a:schemeClr val="accent2">
                  <a:lumMod val="75000"/>
                </a:schemeClr>
              </a:solidFill>
            </a:endParaRPr>
          </a:p>
        </p:txBody>
      </p:sp>
      <p:pic>
        <p:nvPicPr>
          <p:cNvPr id="7" name="object 7">
            <a:extLst>
              <a:ext uri="{FF2B5EF4-FFF2-40B4-BE49-F238E27FC236}">
                <a16:creationId xmlns:a16="http://schemas.microsoft.com/office/drawing/2014/main" id="{E24E7DD4-5CC5-33E8-DC82-E4B1BC8FE3B2}"/>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E931B493-A7C0-0F2E-4886-5CE1D162D3E6}"/>
              </a:ext>
            </a:extLst>
          </p:cNvPr>
          <p:cNvSpPr txBox="1"/>
          <p:nvPr/>
        </p:nvSpPr>
        <p:spPr>
          <a:xfrm>
            <a:off x="355601" y="3966029"/>
            <a:ext cx="45937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a:t>
            </a:r>
            <a:r>
              <a:rPr lang="en-US" err="1">
                <a:ea typeface="+mn-lt"/>
                <a:cs typeface="+mn-lt"/>
              </a:rPr>
              <a:t>micro:bit</a:t>
            </a:r>
            <a:r>
              <a:rPr lang="en-US">
                <a:ea typeface="+mn-lt"/>
                <a:cs typeface="+mn-lt"/>
              </a:rPr>
              <a:t> is a pocket-sized programmable computer with built-in sensors, buttons, LEDs, and wireless communication that can be used to create interactive projects and control robots.</a:t>
            </a:r>
            <a:endParaRPr lang="en-US"/>
          </a:p>
        </p:txBody>
      </p:sp>
      <p:pic>
        <p:nvPicPr>
          <p:cNvPr id="5" name="Picture 4" descr="Sensor Kit micro:bit Project Kit">
            <a:extLst>
              <a:ext uri="{FF2B5EF4-FFF2-40B4-BE49-F238E27FC236}">
                <a16:creationId xmlns:a16="http://schemas.microsoft.com/office/drawing/2014/main" id="{C5E39118-C004-0024-DDCF-0332CCB6BB95}"/>
              </a:ext>
            </a:extLst>
          </p:cNvPr>
          <p:cNvPicPr>
            <a:picLocks noChangeAspect="1"/>
          </p:cNvPicPr>
          <p:nvPr/>
        </p:nvPicPr>
        <p:blipFill>
          <a:blip r:embed="rId3"/>
          <a:stretch>
            <a:fillRect/>
          </a:stretch>
        </p:blipFill>
        <p:spPr>
          <a:xfrm>
            <a:off x="428172" y="838200"/>
            <a:ext cx="2743200" cy="2743200"/>
          </a:xfrm>
          <a:prstGeom prst="rect">
            <a:avLst/>
          </a:prstGeom>
        </p:spPr>
      </p:pic>
      <p:pic>
        <p:nvPicPr>
          <p:cNvPr id="2" name="Picture 1">
            <a:extLst>
              <a:ext uri="{FF2B5EF4-FFF2-40B4-BE49-F238E27FC236}">
                <a16:creationId xmlns:a16="http://schemas.microsoft.com/office/drawing/2014/main" id="{8FA42135-8F4C-0547-C043-64247B837FB6}"/>
              </a:ext>
            </a:extLst>
          </p:cNvPr>
          <p:cNvPicPr>
            <a:picLocks noChangeAspect="1"/>
          </p:cNvPicPr>
          <p:nvPr/>
        </p:nvPicPr>
        <p:blipFill>
          <a:blip r:embed="rId4"/>
          <a:stretch>
            <a:fillRect/>
          </a:stretch>
        </p:blipFill>
        <p:spPr>
          <a:xfrm>
            <a:off x="5136369" y="529770"/>
            <a:ext cx="6251773" cy="5805715"/>
          </a:xfrm>
          <a:prstGeom prst="rect">
            <a:avLst/>
          </a:prstGeom>
        </p:spPr>
      </p:pic>
    </p:spTree>
    <p:extLst>
      <p:ext uri="{BB962C8B-B14F-4D97-AF65-F5344CB8AC3E}">
        <p14:creationId xmlns:p14="http://schemas.microsoft.com/office/powerpoint/2010/main" val="2716671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E30800-83E4-F0F5-A28A-1C72BA84B7D2}"/>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D7402E9B-5C46-FC9D-ACE6-73FD99DBECC7}"/>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B003C4B8-B929-A673-666D-27E54A2A6174}"/>
              </a:ext>
            </a:extLst>
          </p:cNvPr>
          <p:cNvSpPr txBox="1"/>
          <p:nvPr/>
        </p:nvSpPr>
        <p:spPr>
          <a:xfrm>
            <a:off x="602343" y="482600"/>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err="1">
                <a:solidFill>
                  <a:schemeClr val="accent2">
                    <a:lumMod val="75000"/>
                  </a:schemeClr>
                </a:solidFill>
                <a:latin typeface="Segoe UI"/>
                <a:cs typeface="Segoe UI"/>
              </a:rPr>
              <a:t>MICRO:BIT</a:t>
            </a:r>
            <a:r>
              <a:rPr lang="en-US" sz="3200" b="1" spc="-25">
                <a:solidFill>
                  <a:schemeClr val="accent2">
                    <a:lumMod val="75000"/>
                  </a:schemeClr>
                </a:solidFill>
                <a:latin typeface="Segoe UI"/>
                <a:cs typeface="Segoe UI"/>
              </a:rPr>
              <a:t> V2 ACTIVITIES</a:t>
            </a:r>
          </a:p>
        </p:txBody>
      </p:sp>
      <p:pic>
        <p:nvPicPr>
          <p:cNvPr id="5" name="Picture 4">
            <a:extLst>
              <a:ext uri="{FF2B5EF4-FFF2-40B4-BE49-F238E27FC236}">
                <a16:creationId xmlns:a16="http://schemas.microsoft.com/office/drawing/2014/main" id="{A2E2BC8E-2DCF-672C-6C38-D2231E1F51C8}"/>
              </a:ext>
            </a:extLst>
          </p:cNvPr>
          <p:cNvPicPr>
            <a:picLocks noChangeAspect="1"/>
          </p:cNvPicPr>
          <p:nvPr/>
        </p:nvPicPr>
        <p:blipFill>
          <a:blip r:embed="rId3"/>
          <a:stretch>
            <a:fillRect/>
          </a:stretch>
        </p:blipFill>
        <p:spPr>
          <a:xfrm>
            <a:off x="513897" y="2029051"/>
            <a:ext cx="2266950" cy="3293382"/>
          </a:xfrm>
          <a:prstGeom prst="rect">
            <a:avLst/>
          </a:prstGeom>
        </p:spPr>
      </p:pic>
      <p:sp>
        <p:nvSpPr>
          <p:cNvPr id="8" name="TextBox 7">
            <a:extLst>
              <a:ext uri="{FF2B5EF4-FFF2-40B4-BE49-F238E27FC236}">
                <a16:creationId xmlns:a16="http://schemas.microsoft.com/office/drawing/2014/main" id="{69E1EF52-D95E-C16D-A553-30B187E03524}"/>
              </a:ext>
            </a:extLst>
          </p:cNvPr>
          <p:cNvSpPr txBox="1"/>
          <p:nvPr/>
        </p:nvSpPr>
        <p:spPr>
          <a:xfrm>
            <a:off x="377371" y="1382486"/>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Display Text and Icons</a:t>
            </a:r>
          </a:p>
          <a:p>
            <a:pPr algn="ctr"/>
            <a:endParaRPr lang="en-US" b="1">
              <a:solidFill>
                <a:srgbClr val="C00000"/>
              </a:solidFill>
            </a:endParaRPr>
          </a:p>
        </p:txBody>
      </p:sp>
      <p:sp>
        <p:nvSpPr>
          <p:cNvPr id="9" name="TextBox 8">
            <a:extLst>
              <a:ext uri="{FF2B5EF4-FFF2-40B4-BE49-F238E27FC236}">
                <a16:creationId xmlns:a16="http://schemas.microsoft.com/office/drawing/2014/main" id="{B5086F99-C8BD-E44C-FBAA-0B7770122340}"/>
              </a:ext>
            </a:extLst>
          </p:cNvPr>
          <p:cNvSpPr txBox="1"/>
          <p:nvPr/>
        </p:nvSpPr>
        <p:spPr>
          <a:xfrm>
            <a:off x="4165600" y="1382486"/>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Buttons as Inputs</a:t>
            </a:r>
          </a:p>
          <a:p>
            <a:pPr algn="ctr"/>
            <a:endParaRPr lang="en-US" b="1">
              <a:solidFill>
                <a:srgbClr val="C00000"/>
              </a:solidFill>
            </a:endParaRPr>
          </a:p>
        </p:txBody>
      </p:sp>
      <p:pic>
        <p:nvPicPr>
          <p:cNvPr id="10" name="Picture 9">
            <a:extLst>
              <a:ext uri="{FF2B5EF4-FFF2-40B4-BE49-F238E27FC236}">
                <a16:creationId xmlns:a16="http://schemas.microsoft.com/office/drawing/2014/main" id="{CCCB4B50-F4DA-6E11-E976-6B8F09245EFF}"/>
              </a:ext>
            </a:extLst>
          </p:cNvPr>
          <p:cNvPicPr>
            <a:picLocks noChangeAspect="1"/>
          </p:cNvPicPr>
          <p:nvPr/>
        </p:nvPicPr>
        <p:blipFill>
          <a:blip r:embed="rId4"/>
          <a:stretch>
            <a:fillRect/>
          </a:stretch>
        </p:blipFill>
        <p:spPr>
          <a:xfrm>
            <a:off x="3804557" y="1875971"/>
            <a:ext cx="2667000" cy="3962400"/>
          </a:xfrm>
          <a:prstGeom prst="rect">
            <a:avLst/>
          </a:prstGeom>
        </p:spPr>
      </p:pic>
      <p:sp>
        <p:nvSpPr>
          <p:cNvPr id="11" name="TextBox 10">
            <a:extLst>
              <a:ext uri="{FF2B5EF4-FFF2-40B4-BE49-F238E27FC236}">
                <a16:creationId xmlns:a16="http://schemas.microsoft.com/office/drawing/2014/main" id="{920A8DDC-C8BD-4EF6-6BEF-1A57AA007729}"/>
              </a:ext>
            </a:extLst>
          </p:cNvPr>
          <p:cNvSpPr txBox="1"/>
          <p:nvPr/>
        </p:nvSpPr>
        <p:spPr>
          <a:xfrm>
            <a:off x="8171543" y="1302657"/>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Speaker—Sounds and Melodies</a:t>
            </a:r>
          </a:p>
          <a:p>
            <a:pPr algn="ctr"/>
            <a:endParaRPr lang="en-US" b="1">
              <a:solidFill>
                <a:srgbClr val="C00000"/>
              </a:solidFill>
            </a:endParaRPr>
          </a:p>
        </p:txBody>
      </p:sp>
      <p:pic>
        <p:nvPicPr>
          <p:cNvPr id="12" name="Picture 11">
            <a:extLst>
              <a:ext uri="{FF2B5EF4-FFF2-40B4-BE49-F238E27FC236}">
                <a16:creationId xmlns:a16="http://schemas.microsoft.com/office/drawing/2014/main" id="{6F35183A-A6E1-9C92-4C4A-5A0989394658}"/>
              </a:ext>
            </a:extLst>
          </p:cNvPr>
          <p:cNvPicPr>
            <a:picLocks noChangeAspect="1"/>
          </p:cNvPicPr>
          <p:nvPr/>
        </p:nvPicPr>
        <p:blipFill>
          <a:blip r:embed="rId5"/>
          <a:stretch>
            <a:fillRect/>
          </a:stretch>
        </p:blipFill>
        <p:spPr>
          <a:xfrm>
            <a:off x="7418387" y="1876199"/>
            <a:ext cx="4445454" cy="4905375"/>
          </a:xfrm>
          <a:prstGeom prst="rect">
            <a:avLst/>
          </a:prstGeom>
        </p:spPr>
      </p:pic>
      <p:pic>
        <p:nvPicPr>
          <p:cNvPr id="2" name="Picture 1" descr="A screenshot of a phone&#10;&#10;AI-generated content may be incorrect.">
            <a:extLst>
              <a:ext uri="{FF2B5EF4-FFF2-40B4-BE49-F238E27FC236}">
                <a16:creationId xmlns:a16="http://schemas.microsoft.com/office/drawing/2014/main" id="{C1090152-9E84-2472-A7DB-A063E8CD0C45}"/>
              </a:ext>
            </a:extLst>
          </p:cNvPr>
          <p:cNvPicPr>
            <a:picLocks noChangeAspect="1"/>
          </p:cNvPicPr>
          <p:nvPr/>
        </p:nvPicPr>
        <p:blipFill>
          <a:blip r:embed="rId4"/>
          <a:stretch>
            <a:fillRect/>
          </a:stretch>
        </p:blipFill>
        <p:spPr>
          <a:xfrm>
            <a:off x="3943947" y="2015361"/>
            <a:ext cx="2667000" cy="3962400"/>
          </a:xfrm>
          <a:prstGeom prst="rect">
            <a:avLst/>
          </a:prstGeom>
        </p:spPr>
      </p:pic>
    </p:spTree>
    <p:extLst>
      <p:ext uri="{BB962C8B-B14F-4D97-AF65-F5344CB8AC3E}">
        <p14:creationId xmlns:p14="http://schemas.microsoft.com/office/powerpoint/2010/main" val="3218090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5E30800-83E4-F0F5-A28A-1C72BA84B7D2}"/>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D7402E9B-5C46-FC9D-ACE6-73FD99DBECC7}"/>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B003C4B8-B929-A673-666D-27E54A2A6174}"/>
              </a:ext>
            </a:extLst>
          </p:cNvPr>
          <p:cNvSpPr txBox="1"/>
          <p:nvPr/>
        </p:nvSpPr>
        <p:spPr>
          <a:xfrm>
            <a:off x="602343" y="482600"/>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a:solidFill>
                  <a:schemeClr val="accent2">
                    <a:lumMod val="75000"/>
                  </a:schemeClr>
                </a:solidFill>
                <a:latin typeface="Segoe UI"/>
                <a:cs typeface="Segoe UI"/>
              </a:rPr>
              <a:t>micro:bit V2 Activities</a:t>
            </a:r>
          </a:p>
        </p:txBody>
      </p:sp>
      <p:pic>
        <p:nvPicPr>
          <p:cNvPr id="2" name="Picture 1">
            <a:extLst>
              <a:ext uri="{FF2B5EF4-FFF2-40B4-BE49-F238E27FC236}">
                <a16:creationId xmlns:a16="http://schemas.microsoft.com/office/drawing/2014/main" id="{3CCA0A4D-62E8-9E29-7F49-5BEF3D017565}"/>
              </a:ext>
            </a:extLst>
          </p:cNvPr>
          <p:cNvPicPr>
            <a:picLocks noChangeAspect="1"/>
          </p:cNvPicPr>
          <p:nvPr/>
        </p:nvPicPr>
        <p:blipFill>
          <a:blip r:embed="rId3"/>
          <a:stretch>
            <a:fillRect/>
          </a:stretch>
        </p:blipFill>
        <p:spPr>
          <a:xfrm>
            <a:off x="966788" y="1775051"/>
            <a:ext cx="2333625" cy="3743325"/>
          </a:xfrm>
          <a:prstGeom prst="rect">
            <a:avLst/>
          </a:prstGeom>
        </p:spPr>
      </p:pic>
      <p:sp>
        <p:nvSpPr>
          <p:cNvPr id="3" name="TextBox 2">
            <a:extLst>
              <a:ext uri="{FF2B5EF4-FFF2-40B4-BE49-F238E27FC236}">
                <a16:creationId xmlns:a16="http://schemas.microsoft.com/office/drawing/2014/main" id="{D7AE4D82-7C7B-AA06-30F3-BB623A1F577C}"/>
              </a:ext>
            </a:extLst>
          </p:cNvPr>
          <p:cNvSpPr txBox="1"/>
          <p:nvPr/>
        </p:nvSpPr>
        <p:spPr>
          <a:xfrm>
            <a:off x="1110343" y="1208315"/>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Logo Touch </a:t>
            </a:r>
            <a:r>
              <a:rPr lang="en-US" b="1" err="1">
                <a:solidFill>
                  <a:srgbClr val="C00000"/>
                </a:solidFill>
              </a:rPr>
              <a:t>Counte</a:t>
            </a:r>
            <a:r>
              <a:rPr lang="en-US" b="1">
                <a:solidFill>
                  <a:srgbClr val="C00000"/>
                </a:solidFill>
              </a:rPr>
              <a:t>r</a:t>
            </a:r>
          </a:p>
          <a:p>
            <a:pPr algn="ctr"/>
            <a:endParaRPr lang="en-US" b="1">
              <a:solidFill>
                <a:srgbClr val="C00000"/>
              </a:solidFill>
            </a:endParaRPr>
          </a:p>
        </p:txBody>
      </p:sp>
      <p:pic>
        <p:nvPicPr>
          <p:cNvPr id="6" name="Picture 5">
            <a:extLst>
              <a:ext uri="{FF2B5EF4-FFF2-40B4-BE49-F238E27FC236}">
                <a16:creationId xmlns:a16="http://schemas.microsoft.com/office/drawing/2014/main" id="{372BBD4B-4ADC-C753-6F54-57BFEB4BDBA6}"/>
              </a:ext>
            </a:extLst>
          </p:cNvPr>
          <p:cNvPicPr>
            <a:picLocks noChangeAspect="1"/>
          </p:cNvPicPr>
          <p:nvPr/>
        </p:nvPicPr>
        <p:blipFill>
          <a:blip r:embed="rId4"/>
          <a:stretch>
            <a:fillRect/>
          </a:stretch>
        </p:blipFill>
        <p:spPr>
          <a:xfrm>
            <a:off x="4871584" y="1714954"/>
            <a:ext cx="2695575" cy="3790950"/>
          </a:xfrm>
          <a:prstGeom prst="rect">
            <a:avLst/>
          </a:prstGeom>
        </p:spPr>
      </p:pic>
      <p:sp>
        <p:nvSpPr>
          <p:cNvPr id="12" name="TextBox 11">
            <a:extLst>
              <a:ext uri="{FF2B5EF4-FFF2-40B4-BE49-F238E27FC236}">
                <a16:creationId xmlns:a16="http://schemas.microsoft.com/office/drawing/2014/main" id="{9A13D337-C82F-FDCB-0E1E-A869DE0C770B}"/>
              </a:ext>
            </a:extLst>
          </p:cNvPr>
          <p:cNvSpPr txBox="1"/>
          <p:nvPr/>
        </p:nvSpPr>
        <p:spPr>
          <a:xfrm>
            <a:off x="5138057" y="1208315"/>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Shake Counter</a:t>
            </a:r>
          </a:p>
          <a:p>
            <a:pPr algn="ctr"/>
            <a:endParaRPr lang="en-US" b="1">
              <a:solidFill>
                <a:srgbClr val="C00000"/>
              </a:solidFill>
            </a:endParaRPr>
          </a:p>
        </p:txBody>
      </p:sp>
      <p:sp>
        <p:nvSpPr>
          <p:cNvPr id="13" name="TextBox 12">
            <a:extLst>
              <a:ext uri="{FF2B5EF4-FFF2-40B4-BE49-F238E27FC236}">
                <a16:creationId xmlns:a16="http://schemas.microsoft.com/office/drawing/2014/main" id="{46149529-9523-5439-7AE7-CCD27C762AAC}"/>
              </a:ext>
            </a:extLst>
          </p:cNvPr>
          <p:cNvSpPr txBox="1"/>
          <p:nvPr/>
        </p:nvSpPr>
        <p:spPr>
          <a:xfrm>
            <a:off x="5029200" y="5627914"/>
            <a:ext cx="315685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 accelerometer is a sensor that measures the movement and orientation of the </a:t>
            </a:r>
            <a:r>
              <a:rPr lang="en-US" err="1"/>
              <a:t>micro:bit</a:t>
            </a:r>
            <a:r>
              <a:rPr lang="en-US"/>
              <a:t>.</a:t>
            </a:r>
          </a:p>
          <a:p>
            <a:pPr algn="ctr"/>
            <a:endParaRPr lang="en-US"/>
          </a:p>
        </p:txBody>
      </p:sp>
      <p:sp>
        <p:nvSpPr>
          <p:cNvPr id="14" name="TextBox 13">
            <a:extLst>
              <a:ext uri="{FF2B5EF4-FFF2-40B4-BE49-F238E27FC236}">
                <a16:creationId xmlns:a16="http://schemas.microsoft.com/office/drawing/2014/main" id="{981F338C-F5F9-3689-941E-37311399CB34}"/>
              </a:ext>
            </a:extLst>
          </p:cNvPr>
          <p:cNvSpPr txBox="1"/>
          <p:nvPr/>
        </p:nvSpPr>
        <p:spPr>
          <a:xfrm>
            <a:off x="965200" y="5627914"/>
            <a:ext cx="27141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Logo Touch is a built-in capacitive touch sensor on the front of the </a:t>
            </a:r>
            <a:r>
              <a:rPr lang="en-US" err="1"/>
              <a:t>micro:bit</a:t>
            </a:r>
            <a:r>
              <a:rPr lang="en-US"/>
              <a:t> V2.</a:t>
            </a:r>
          </a:p>
          <a:p>
            <a:pPr algn="ctr"/>
            <a:endParaRPr lang="en-US"/>
          </a:p>
        </p:txBody>
      </p:sp>
      <p:sp>
        <p:nvSpPr>
          <p:cNvPr id="15" name="TextBox 14">
            <a:extLst>
              <a:ext uri="{FF2B5EF4-FFF2-40B4-BE49-F238E27FC236}">
                <a16:creationId xmlns:a16="http://schemas.microsoft.com/office/drawing/2014/main" id="{676351A4-9A99-8A1C-140B-648745125C6C}"/>
              </a:ext>
            </a:extLst>
          </p:cNvPr>
          <p:cNvSpPr txBox="1"/>
          <p:nvPr/>
        </p:nvSpPr>
        <p:spPr>
          <a:xfrm>
            <a:off x="9376229" y="1121229"/>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Clap Detector</a:t>
            </a:r>
          </a:p>
          <a:p>
            <a:pPr algn="ctr"/>
            <a:endParaRPr lang="en-US" b="1">
              <a:solidFill>
                <a:srgbClr val="C00000"/>
              </a:solidFill>
            </a:endParaRPr>
          </a:p>
        </p:txBody>
      </p:sp>
      <p:pic>
        <p:nvPicPr>
          <p:cNvPr id="16" name="Picture 15">
            <a:extLst>
              <a:ext uri="{FF2B5EF4-FFF2-40B4-BE49-F238E27FC236}">
                <a16:creationId xmlns:a16="http://schemas.microsoft.com/office/drawing/2014/main" id="{589543AD-3572-70A9-3E04-7D9362B93F6C}"/>
              </a:ext>
            </a:extLst>
          </p:cNvPr>
          <p:cNvPicPr>
            <a:picLocks noChangeAspect="1"/>
          </p:cNvPicPr>
          <p:nvPr/>
        </p:nvPicPr>
        <p:blipFill>
          <a:blip r:embed="rId5"/>
          <a:stretch>
            <a:fillRect/>
          </a:stretch>
        </p:blipFill>
        <p:spPr>
          <a:xfrm>
            <a:off x="8071531" y="1765980"/>
            <a:ext cx="3661683" cy="2868840"/>
          </a:xfrm>
          <a:prstGeom prst="rect">
            <a:avLst/>
          </a:prstGeom>
        </p:spPr>
      </p:pic>
      <p:sp>
        <p:nvSpPr>
          <p:cNvPr id="17" name="TextBox 16">
            <a:extLst>
              <a:ext uri="{FF2B5EF4-FFF2-40B4-BE49-F238E27FC236}">
                <a16:creationId xmlns:a16="http://schemas.microsoft.com/office/drawing/2014/main" id="{03801EB2-420F-0A28-1182-F46C484AF656}"/>
              </a:ext>
            </a:extLst>
          </p:cNvPr>
          <p:cNvSpPr txBox="1"/>
          <p:nvPr/>
        </p:nvSpPr>
        <p:spPr>
          <a:xfrm>
            <a:off x="8382000" y="5511800"/>
            <a:ext cx="305525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built-in microphone helps to  detect loud sounds and trigger an action.</a:t>
            </a:r>
          </a:p>
          <a:p>
            <a:pPr algn="ctr"/>
            <a:endParaRPr lang="en-US"/>
          </a:p>
        </p:txBody>
      </p:sp>
    </p:spTree>
    <p:extLst>
      <p:ext uri="{BB962C8B-B14F-4D97-AF65-F5344CB8AC3E}">
        <p14:creationId xmlns:p14="http://schemas.microsoft.com/office/powerpoint/2010/main" val="1109917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F040715-C4BF-010B-B76B-EB96A69604DC}"/>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6FA83442-73F9-A034-611B-CCF1AE87AAA4}"/>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2B4CEA56-C0F6-41F6-A011-2526E3294666}"/>
              </a:ext>
            </a:extLst>
          </p:cNvPr>
          <p:cNvSpPr txBox="1"/>
          <p:nvPr/>
        </p:nvSpPr>
        <p:spPr>
          <a:xfrm>
            <a:off x="602343" y="482600"/>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a:solidFill>
                  <a:schemeClr val="accent2">
                    <a:lumMod val="75000"/>
                  </a:schemeClr>
                </a:solidFill>
                <a:latin typeface="Segoe UI"/>
                <a:cs typeface="Segoe UI"/>
              </a:rPr>
              <a:t>micro:bit V2 Activities</a:t>
            </a:r>
          </a:p>
        </p:txBody>
      </p:sp>
      <p:pic>
        <p:nvPicPr>
          <p:cNvPr id="5" name="Picture 4">
            <a:extLst>
              <a:ext uri="{FF2B5EF4-FFF2-40B4-BE49-F238E27FC236}">
                <a16:creationId xmlns:a16="http://schemas.microsoft.com/office/drawing/2014/main" id="{2C2AAA93-B45F-BDC2-0C58-5F872611A6FB}"/>
              </a:ext>
            </a:extLst>
          </p:cNvPr>
          <p:cNvPicPr>
            <a:picLocks noChangeAspect="1"/>
          </p:cNvPicPr>
          <p:nvPr/>
        </p:nvPicPr>
        <p:blipFill>
          <a:blip r:embed="rId3"/>
          <a:stretch>
            <a:fillRect/>
          </a:stretch>
        </p:blipFill>
        <p:spPr>
          <a:xfrm>
            <a:off x="5944054" y="914400"/>
            <a:ext cx="4933950" cy="5029200"/>
          </a:xfrm>
          <a:prstGeom prst="rect">
            <a:avLst/>
          </a:prstGeom>
        </p:spPr>
      </p:pic>
      <p:sp>
        <p:nvSpPr>
          <p:cNvPr id="8" name="TextBox 7">
            <a:extLst>
              <a:ext uri="{FF2B5EF4-FFF2-40B4-BE49-F238E27FC236}">
                <a16:creationId xmlns:a16="http://schemas.microsoft.com/office/drawing/2014/main" id="{F8DC859A-14B4-3697-BAB5-57EBD0F7E51E}"/>
              </a:ext>
            </a:extLst>
          </p:cNvPr>
          <p:cNvSpPr txBox="1"/>
          <p:nvPr/>
        </p:nvSpPr>
        <p:spPr>
          <a:xfrm>
            <a:off x="740228" y="1259115"/>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00000"/>
                </a:solidFill>
              </a:rPr>
              <a:t>Multi-Sensor Monitoring System</a:t>
            </a:r>
          </a:p>
          <a:p>
            <a:pPr algn="ctr"/>
            <a:endParaRPr lang="en-US"/>
          </a:p>
        </p:txBody>
      </p:sp>
      <p:sp>
        <p:nvSpPr>
          <p:cNvPr id="9" name="TextBox 8">
            <a:extLst>
              <a:ext uri="{FF2B5EF4-FFF2-40B4-BE49-F238E27FC236}">
                <a16:creationId xmlns:a16="http://schemas.microsoft.com/office/drawing/2014/main" id="{817F0AFB-7E59-7BB9-93E2-E677E0CB1313}"/>
              </a:ext>
            </a:extLst>
          </p:cNvPr>
          <p:cNvSpPr txBox="1"/>
          <p:nvPr/>
        </p:nvSpPr>
        <p:spPr>
          <a:xfrm>
            <a:off x="740229" y="1999343"/>
            <a:ext cx="6096000" cy="25453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A compass heading uses:</a:t>
            </a:r>
          </a:p>
          <a:p>
            <a:pPr>
              <a:lnSpc>
                <a:spcPct val="150000"/>
              </a:lnSpc>
              <a:buFont typeface=""/>
              <a:buChar char="•"/>
            </a:pPr>
            <a:r>
              <a:rPr lang="en-US" b="1"/>
              <a:t>North:</a:t>
            </a:r>
            <a:r>
              <a:rPr lang="en-US"/>
              <a:t> 0° or 360° </a:t>
            </a:r>
          </a:p>
          <a:p>
            <a:pPr>
              <a:lnSpc>
                <a:spcPct val="150000"/>
              </a:lnSpc>
              <a:buFont typeface=""/>
              <a:buChar char="•"/>
            </a:pPr>
            <a:r>
              <a:rPr lang="en-US" b="1"/>
              <a:t>East:</a:t>
            </a:r>
            <a:r>
              <a:rPr lang="en-US"/>
              <a:t> 90° </a:t>
            </a:r>
          </a:p>
          <a:p>
            <a:pPr>
              <a:lnSpc>
                <a:spcPct val="150000"/>
              </a:lnSpc>
              <a:buFont typeface=""/>
              <a:buChar char="•"/>
            </a:pPr>
            <a:r>
              <a:rPr lang="en-US" b="1"/>
              <a:t>South:</a:t>
            </a:r>
            <a:r>
              <a:rPr lang="en-US"/>
              <a:t> 180° </a:t>
            </a:r>
          </a:p>
          <a:p>
            <a:pPr>
              <a:lnSpc>
                <a:spcPct val="150000"/>
              </a:lnSpc>
              <a:buFont typeface=""/>
              <a:buChar char="•"/>
            </a:pPr>
            <a:r>
              <a:rPr lang="en-US" b="1"/>
              <a:t>West:</a:t>
            </a:r>
            <a:r>
              <a:rPr lang="en-US"/>
              <a:t> 270°</a:t>
            </a:r>
          </a:p>
          <a:p>
            <a:pPr algn="ctr">
              <a:lnSpc>
                <a:spcPct val="150000"/>
              </a:lnSpc>
            </a:pPr>
            <a:endParaRPr lang="en-US"/>
          </a:p>
        </p:txBody>
      </p:sp>
    </p:spTree>
    <p:extLst>
      <p:ext uri="{BB962C8B-B14F-4D97-AF65-F5344CB8AC3E}">
        <p14:creationId xmlns:p14="http://schemas.microsoft.com/office/powerpoint/2010/main" val="343170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8FC96D6-729A-22E4-7B84-21D158849A07}"/>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1AE98C44-508B-61C7-8BCA-6FE030DD0848}"/>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D8FF6129-97E0-444E-5018-201758035447}"/>
              </a:ext>
            </a:extLst>
          </p:cNvPr>
          <p:cNvSpPr txBox="1"/>
          <p:nvPr/>
        </p:nvSpPr>
        <p:spPr>
          <a:xfrm>
            <a:off x="602343" y="482600"/>
            <a:ext cx="87351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dirty="0">
                <a:solidFill>
                  <a:schemeClr val="accent2">
                    <a:lumMod val="75000"/>
                  </a:schemeClr>
                </a:solidFill>
                <a:latin typeface="Segoe UI"/>
                <a:cs typeface="Segoe UI"/>
              </a:rPr>
              <a:t>RADIO IN A MICROBIT</a:t>
            </a:r>
            <a:endParaRPr lang="en-US" dirty="0">
              <a:solidFill>
                <a:schemeClr val="accent2">
                  <a:lumMod val="75000"/>
                </a:schemeClr>
              </a:solidFill>
            </a:endParaRPr>
          </a:p>
        </p:txBody>
      </p:sp>
      <p:sp>
        <p:nvSpPr>
          <p:cNvPr id="2" name="TextBox 1">
            <a:extLst>
              <a:ext uri="{FF2B5EF4-FFF2-40B4-BE49-F238E27FC236}">
                <a16:creationId xmlns:a16="http://schemas.microsoft.com/office/drawing/2014/main" id="{20FEB3CD-DDEC-28DA-C08A-B32AADE96B42}"/>
              </a:ext>
            </a:extLst>
          </p:cNvPr>
          <p:cNvSpPr txBox="1"/>
          <p:nvPr/>
        </p:nvSpPr>
        <p:spPr>
          <a:xfrm>
            <a:off x="1003610" y="1328854"/>
            <a:ext cx="10349552" cy="33417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Arial"/>
              <a:buChar char="•"/>
            </a:pPr>
            <a:r>
              <a:rPr lang="en-US" dirty="0"/>
              <a:t>The </a:t>
            </a:r>
            <a:r>
              <a:rPr lang="en-US" b="1" dirty="0"/>
              <a:t>radio</a:t>
            </a:r>
            <a:r>
              <a:rPr lang="en-US" dirty="0"/>
              <a:t> in a </a:t>
            </a:r>
            <a:r>
              <a:rPr lang="en-US" dirty="0" err="1"/>
              <a:t>micro:bit</a:t>
            </a:r>
            <a:r>
              <a:rPr lang="en-US" dirty="0"/>
              <a:t> allows one </a:t>
            </a:r>
            <a:r>
              <a:rPr lang="en-US" dirty="0" err="1"/>
              <a:t>micro:bit</a:t>
            </a:r>
            <a:r>
              <a:rPr lang="en-US" dirty="0"/>
              <a:t> to send information wirelessly to another </a:t>
            </a:r>
            <a:r>
              <a:rPr lang="en-US" dirty="0" err="1"/>
              <a:t>micro:bit</a:t>
            </a:r>
            <a:r>
              <a:rPr lang="en-US" dirty="0"/>
              <a:t>. It works a little like a </a:t>
            </a:r>
            <a:r>
              <a:rPr lang="en-US" b="1" dirty="0"/>
              <a:t>walkie-talkie</a:t>
            </a:r>
            <a:r>
              <a:rPr lang="en-US" dirty="0"/>
              <a:t>. </a:t>
            </a:r>
          </a:p>
          <a:p>
            <a:pPr marL="285750" indent="-285750">
              <a:lnSpc>
                <a:spcPct val="200000"/>
              </a:lnSpc>
              <a:buFont typeface="Arial"/>
              <a:buChar char="•"/>
            </a:pPr>
            <a:r>
              <a:rPr lang="en-US" dirty="0"/>
              <a:t>If two </a:t>
            </a:r>
            <a:r>
              <a:rPr lang="en-US" dirty="0" err="1"/>
              <a:t>micro:bits</a:t>
            </a:r>
            <a:r>
              <a:rPr lang="en-US" dirty="0"/>
              <a:t> are using the same radio group, they can send and receive messages, numbers, or sensor data.</a:t>
            </a:r>
          </a:p>
          <a:p>
            <a:pPr marL="285750" indent="-285750">
              <a:lnSpc>
                <a:spcPct val="200000"/>
              </a:lnSpc>
              <a:buFont typeface="Arial"/>
              <a:buChar char="•"/>
            </a:pPr>
            <a:r>
              <a:rPr lang="en-US" dirty="0"/>
              <a:t>For example, one </a:t>
            </a:r>
            <a:r>
              <a:rPr lang="en-US" dirty="0" err="1"/>
              <a:t>micro:bit</a:t>
            </a:r>
            <a:r>
              <a:rPr lang="en-US" dirty="0"/>
              <a:t> in a field could send </a:t>
            </a:r>
            <a:r>
              <a:rPr lang="en-US" b="1" dirty="0"/>
              <a:t>“WATER”</a:t>
            </a:r>
            <a:r>
              <a:rPr lang="en-US" dirty="0"/>
              <a:t>, and another </a:t>
            </a:r>
            <a:r>
              <a:rPr lang="en-US" dirty="0" err="1"/>
              <a:t>micro:bit</a:t>
            </a:r>
            <a:r>
              <a:rPr lang="en-US" dirty="0"/>
              <a:t> at a farm office could receive and display that message.</a:t>
            </a:r>
          </a:p>
        </p:txBody>
      </p:sp>
    </p:spTree>
    <p:extLst>
      <p:ext uri="{BB962C8B-B14F-4D97-AF65-F5344CB8AC3E}">
        <p14:creationId xmlns:p14="http://schemas.microsoft.com/office/powerpoint/2010/main" val="4132952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4F246B-CF3A-DB36-4147-518C02AC3493}"/>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D931C018-B33A-9193-3CE5-04DEC99DBCA1}"/>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80D98F1D-B611-607E-4AE7-2B20BA68C1D4}"/>
              </a:ext>
            </a:extLst>
          </p:cNvPr>
          <p:cNvSpPr txBox="1"/>
          <p:nvPr/>
        </p:nvSpPr>
        <p:spPr>
          <a:xfrm>
            <a:off x="602343" y="482600"/>
            <a:ext cx="87351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dirty="0">
                <a:solidFill>
                  <a:schemeClr val="accent2">
                    <a:lumMod val="75000"/>
                  </a:schemeClr>
                </a:solidFill>
                <a:latin typeface="Segoe UI"/>
                <a:cs typeface="Segoe UI"/>
              </a:rPr>
              <a:t>SIGNAL STRENGTH IN A MICROBIT</a:t>
            </a:r>
            <a:endParaRPr lang="en-US" dirty="0">
              <a:solidFill>
                <a:schemeClr val="accent2">
                  <a:lumMod val="75000"/>
                </a:schemeClr>
              </a:solidFill>
            </a:endParaRPr>
          </a:p>
        </p:txBody>
      </p:sp>
      <p:sp>
        <p:nvSpPr>
          <p:cNvPr id="3" name="TextBox 2">
            <a:extLst>
              <a:ext uri="{FF2B5EF4-FFF2-40B4-BE49-F238E27FC236}">
                <a16:creationId xmlns:a16="http://schemas.microsoft.com/office/drawing/2014/main" id="{869D6CC9-0EE0-5A1C-649D-839DF8818F17}"/>
              </a:ext>
            </a:extLst>
          </p:cNvPr>
          <p:cNvSpPr txBox="1"/>
          <p:nvPr/>
        </p:nvSpPr>
        <p:spPr>
          <a:xfrm>
            <a:off x="520390" y="1068658"/>
            <a:ext cx="1100253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Signal strength tells us how strong the wireless connection is between two </a:t>
            </a:r>
            <a:r>
              <a:rPr lang="en-US" b="1" dirty="0" err="1"/>
              <a:t>micro:bits</a:t>
            </a:r>
            <a:r>
              <a:rPr lang="en-US" b="1" dirty="0"/>
              <a:t>.</a:t>
            </a:r>
          </a:p>
          <a:p>
            <a:r>
              <a:rPr lang="en-US" dirty="0"/>
              <a:t>If the </a:t>
            </a:r>
            <a:r>
              <a:rPr lang="en-US" dirty="0" err="1"/>
              <a:t>micro:bits</a:t>
            </a:r>
            <a:r>
              <a:rPr lang="en-US" dirty="0"/>
              <a:t> are close to each other, the signal is usually stronger. As they move farther apart, or if walls and other objects are between them, the signal may become weaker.</a:t>
            </a:r>
          </a:p>
          <a:p>
            <a:pPr lvl="1">
              <a:buFont typeface=""/>
            </a:pPr>
            <a:endParaRPr lang="en-US" b="1" dirty="0"/>
          </a:p>
          <a:p>
            <a:pPr lvl="1">
              <a:buFont typeface=""/>
            </a:pPr>
            <a:r>
              <a:rPr lang="en-US" b="1" dirty="0"/>
              <a:t>Signal strength is like how clearly you can hear someone talking. If they are close, you hear them clearly. If they move far away, their voice becomes weaker. Radio signals behave in a similar way.</a:t>
            </a:r>
            <a:endParaRPr lang="en-US" dirty="0"/>
          </a:p>
          <a:p>
            <a:pPr lvl="1">
              <a:buFont typeface=""/>
            </a:pPr>
            <a:endParaRPr lang="en-US" b="1" dirty="0"/>
          </a:p>
          <a:p>
            <a:r>
              <a:rPr lang="en-US" dirty="0"/>
              <a:t>On the </a:t>
            </a:r>
            <a:r>
              <a:rPr lang="en-US" dirty="0" err="1"/>
              <a:t>micro:bit</a:t>
            </a:r>
            <a:r>
              <a:rPr lang="en-US" dirty="0"/>
              <a:t>, signal strength is usually shown as a </a:t>
            </a:r>
            <a:r>
              <a:rPr lang="en-US" b="1" dirty="0"/>
              <a:t>negative number</a:t>
            </a:r>
            <a:r>
              <a:rPr lang="en-US" dirty="0"/>
              <a:t>.</a:t>
            </a:r>
          </a:p>
          <a:p>
            <a:r>
              <a:rPr lang="en-US" dirty="0"/>
              <a:t>For example:</a:t>
            </a:r>
          </a:p>
          <a:p>
            <a:r>
              <a:rPr lang="en-US" b="1" dirty="0"/>
              <a:t>−35 = strong signal</a:t>
            </a:r>
            <a:br>
              <a:rPr lang="en-US" dirty="0"/>
            </a:br>
            <a:r>
              <a:rPr lang="en-US" b="1" dirty="0"/>
              <a:t>−60 = medium signal</a:t>
            </a:r>
            <a:br>
              <a:rPr lang="en-US" dirty="0"/>
            </a:br>
            <a:r>
              <a:rPr lang="en-US" b="1" dirty="0"/>
              <a:t>−90 = weak signal</a:t>
            </a:r>
          </a:p>
          <a:p>
            <a:endParaRPr lang="en-US" dirty="0"/>
          </a:p>
          <a:p>
            <a:r>
              <a:rPr lang="en-US" dirty="0"/>
              <a:t>The important rule is:</a:t>
            </a:r>
          </a:p>
          <a:p>
            <a:pPr lvl="1">
              <a:buFont typeface=""/>
              <a:buNone/>
            </a:pPr>
            <a:r>
              <a:rPr lang="en-US" b="1" dirty="0"/>
              <a:t>The number closer to 0 means a stronger signal.</a:t>
            </a:r>
          </a:p>
          <a:p>
            <a:pPr algn="ctr"/>
            <a:endParaRPr lang="en-US"/>
          </a:p>
        </p:txBody>
      </p:sp>
    </p:spTree>
    <p:extLst>
      <p:ext uri="{BB962C8B-B14F-4D97-AF65-F5344CB8AC3E}">
        <p14:creationId xmlns:p14="http://schemas.microsoft.com/office/powerpoint/2010/main" val="1219141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4A7995-2E8F-FB54-0095-1EFCCFA28D5D}"/>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6AAFCA3D-7FD1-1C41-CFB2-8D439FA69A2B}"/>
              </a:ext>
            </a:extLst>
          </p:cNvPr>
          <p:cNvPicPr/>
          <p:nvPr/>
        </p:nvPicPr>
        <p:blipFill>
          <a:blip r:embed="rId2" cstate="print"/>
          <a:stretch>
            <a:fillRect/>
          </a:stretch>
        </p:blipFill>
        <p:spPr>
          <a:xfrm>
            <a:off x="4715" y="0"/>
            <a:ext cx="12192321" cy="223619"/>
          </a:xfrm>
          <a:prstGeom prst="rect">
            <a:avLst/>
          </a:prstGeom>
        </p:spPr>
      </p:pic>
      <p:pic>
        <p:nvPicPr>
          <p:cNvPr id="3" name="Picture 2">
            <a:extLst>
              <a:ext uri="{FF2B5EF4-FFF2-40B4-BE49-F238E27FC236}">
                <a16:creationId xmlns:a16="http://schemas.microsoft.com/office/drawing/2014/main" id="{18EAB3C9-3601-072C-758C-FFA9C448392E}"/>
              </a:ext>
            </a:extLst>
          </p:cNvPr>
          <p:cNvPicPr>
            <a:picLocks noChangeAspect="1"/>
          </p:cNvPicPr>
          <p:nvPr/>
        </p:nvPicPr>
        <p:blipFill>
          <a:blip r:embed="rId3"/>
          <a:stretch>
            <a:fillRect/>
          </a:stretch>
        </p:blipFill>
        <p:spPr>
          <a:xfrm>
            <a:off x="124871" y="314209"/>
            <a:ext cx="11477625" cy="6619875"/>
          </a:xfrm>
          <a:prstGeom prst="rect">
            <a:avLst/>
          </a:prstGeom>
        </p:spPr>
      </p:pic>
    </p:spTree>
    <p:extLst>
      <p:ext uri="{BB962C8B-B14F-4D97-AF65-F5344CB8AC3E}">
        <p14:creationId xmlns:p14="http://schemas.microsoft.com/office/powerpoint/2010/main" val="420326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3365EE2-4483-3634-F58B-4E65DDDF74E5}"/>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48EE74C1-85C2-52DE-FA7E-92A93E38B762}"/>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8E3DF37F-499A-8FA0-F875-D454C498DFA9}"/>
              </a:ext>
            </a:extLst>
          </p:cNvPr>
          <p:cNvSpPr txBox="1"/>
          <p:nvPr/>
        </p:nvSpPr>
        <p:spPr>
          <a:xfrm>
            <a:off x="602343" y="482600"/>
            <a:ext cx="87351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dirty="0">
                <a:solidFill>
                  <a:schemeClr val="accent2">
                    <a:lumMod val="75000"/>
                  </a:schemeClr>
                </a:solidFill>
                <a:latin typeface="Segoe UI"/>
                <a:cs typeface="Segoe UI"/>
              </a:rPr>
              <a:t>MICRO:BIT V2 ACTIVITIES </a:t>
            </a:r>
          </a:p>
        </p:txBody>
      </p:sp>
      <p:pic>
        <p:nvPicPr>
          <p:cNvPr id="6" name="Picture 5">
            <a:extLst>
              <a:ext uri="{FF2B5EF4-FFF2-40B4-BE49-F238E27FC236}">
                <a16:creationId xmlns:a16="http://schemas.microsoft.com/office/drawing/2014/main" id="{8CA2FA11-3E46-60B5-741E-7A160F0FDCF5}"/>
              </a:ext>
            </a:extLst>
          </p:cNvPr>
          <p:cNvPicPr>
            <a:picLocks noChangeAspect="1"/>
          </p:cNvPicPr>
          <p:nvPr/>
        </p:nvPicPr>
        <p:blipFill>
          <a:blip r:embed="rId3"/>
          <a:stretch>
            <a:fillRect/>
          </a:stretch>
        </p:blipFill>
        <p:spPr>
          <a:xfrm>
            <a:off x="8087771" y="404464"/>
            <a:ext cx="3933825" cy="6457950"/>
          </a:xfrm>
          <a:prstGeom prst="rect">
            <a:avLst/>
          </a:prstGeom>
        </p:spPr>
      </p:pic>
      <p:sp>
        <p:nvSpPr>
          <p:cNvPr id="15" name="TextBox 14">
            <a:extLst>
              <a:ext uri="{FF2B5EF4-FFF2-40B4-BE49-F238E27FC236}">
                <a16:creationId xmlns:a16="http://schemas.microsoft.com/office/drawing/2014/main" id="{4D6E7C79-8464-0477-0C20-792D05827F5C}"/>
              </a:ext>
            </a:extLst>
          </p:cNvPr>
          <p:cNvSpPr txBox="1"/>
          <p:nvPr/>
        </p:nvSpPr>
        <p:spPr>
          <a:xfrm>
            <a:off x="250903" y="1068658"/>
            <a:ext cx="653067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Experiment 1 — Smart Farm Worker Communication</a:t>
            </a:r>
          </a:p>
          <a:p>
            <a:r>
              <a:rPr lang="en-US" dirty="0"/>
              <a:t>Use two </a:t>
            </a:r>
            <a:r>
              <a:rPr lang="en-US" dirty="0" err="1"/>
              <a:t>micro:bits</a:t>
            </a:r>
            <a:r>
              <a:rPr lang="en-US" dirty="0"/>
              <a:t> to send simple farm messages wirelessly.</a:t>
            </a:r>
          </a:p>
          <a:p>
            <a:endParaRPr lang="en-US" dirty="0"/>
          </a:p>
          <a:p>
            <a:r>
              <a:rPr lang="en-US" b="1" dirty="0"/>
              <a:t>Example:</a:t>
            </a:r>
            <a:br>
              <a:rPr lang="en-US" dirty="0"/>
            </a:br>
            <a:r>
              <a:rPr lang="en-US" dirty="0"/>
              <a:t>Button A → </a:t>
            </a:r>
            <a:r>
              <a:rPr lang="en-US" b="1" dirty="0"/>
              <a:t>WATER</a:t>
            </a:r>
            <a:br>
              <a:rPr lang="en-US" dirty="0"/>
            </a:br>
            <a:r>
              <a:rPr lang="en-US" dirty="0"/>
              <a:t>Button B → </a:t>
            </a:r>
            <a:r>
              <a:rPr lang="en-US" b="1" dirty="0"/>
              <a:t>DONE</a:t>
            </a:r>
            <a:br>
              <a:rPr lang="en-US" dirty="0"/>
            </a:br>
            <a:r>
              <a:rPr lang="en-US" dirty="0"/>
              <a:t>A+B → </a:t>
            </a:r>
            <a:r>
              <a:rPr lang="en-US" b="1" dirty="0"/>
              <a:t>HELP</a:t>
            </a:r>
          </a:p>
          <a:p>
            <a:endParaRPr lang="en-US" b="1" dirty="0"/>
          </a:p>
          <a:p>
            <a:r>
              <a:rPr lang="en-US" b="1" dirty="0"/>
              <a:t>Concept:</a:t>
            </a:r>
            <a:r>
              <a:rPr lang="en-US" dirty="0"/>
              <a:t> radio set group + radio send string + on radio received</a:t>
            </a:r>
          </a:p>
          <a:p>
            <a:endParaRPr lang="en-US" dirty="0"/>
          </a:p>
          <a:p>
            <a:r>
              <a:rPr lang="en-US" b="1" dirty="0"/>
              <a:t>Agriculture Link:</a:t>
            </a:r>
            <a:r>
              <a:rPr lang="en-US" dirty="0"/>
              <a:t> Helps workers communicate quickly without walking back to a central location.</a:t>
            </a:r>
          </a:p>
          <a:p>
            <a:pPr algn="ctr"/>
            <a:endParaRPr lang="en-US"/>
          </a:p>
        </p:txBody>
      </p:sp>
    </p:spTree>
    <p:extLst>
      <p:ext uri="{BB962C8B-B14F-4D97-AF65-F5344CB8AC3E}">
        <p14:creationId xmlns:p14="http://schemas.microsoft.com/office/powerpoint/2010/main" val="389415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CF0DA6-9514-7BE7-7B81-7D4A78178DF6}"/>
              </a:ext>
            </a:extLst>
          </p:cNvPr>
          <p:cNvSpPr>
            <a:spLocks noGrp="1"/>
          </p:cNvSpPr>
          <p:nvPr>
            <p:ph sz="half" idx="2"/>
          </p:nvPr>
        </p:nvSpPr>
        <p:spPr>
          <a:xfrm>
            <a:off x="541361" y="621998"/>
            <a:ext cx="5303520" cy="390300"/>
          </a:xfrm>
        </p:spPr>
        <p:txBody>
          <a:bodyPr vert="horz" wrap="square" lIns="0" tIns="0" rIns="0" bIns="0" rtlCol="0" anchor="t">
            <a:spAutoFit/>
          </a:bodyPr>
          <a:lstStyle/>
          <a:p>
            <a:r>
              <a:rPr lang="en-US" dirty="0"/>
              <a:t>Sender</a:t>
            </a:r>
          </a:p>
        </p:txBody>
      </p:sp>
      <p:sp>
        <p:nvSpPr>
          <p:cNvPr id="4" name="Content Placeholder 3">
            <a:extLst>
              <a:ext uri="{FF2B5EF4-FFF2-40B4-BE49-F238E27FC236}">
                <a16:creationId xmlns:a16="http://schemas.microsoft.com/office/drawing/2014/main" id="{A74909AD-E661-A4EA-BA29-63BB398244B7}"/>
              </a:ext>
            </a:extLst>
          </p:cNvPr>
          <p:cNvSpPr>
            <a:spLocks noGrp="1"/>
          </p:cNvSpPr>
          <p:nvPr>
            <p:ph sz="half" idx="3"/>
          </p:nvPr>
        </p:nvSpPr>
        <p:spPr>
          <a:xfrm>
            <a:off x="7973477" y="621998"/>
            <a:ext cx="5303520" cy="906338"/>
          </a:xfrm>
        </p:spPr>
        <p:txBody>
          <a:bodyPr vert="horz" wrap="square" lIns="0" tIns="0" rIns="0" bIns="0" rtlCol="0" anchor="t">
            <a:spAutoFit/>
          </a:bodyPr>
          <a:lstStyle/>
          <a:p>
            <a:r>
              <a:rPr lang="en-US" dirty="0"/>
              <a:t>Receiver</a:t>
            </a:r>
          </a:p>
          <a:p>
            <a:endParaRPr lang="en-US" dirty="0"/>
          </a:p>
        </p:txBody>
      </p:sp>
      <p:pic>
        <p:nvPicPr>
          <p:cNvPr id="5" name="Picture 4">
            <a:extLst>
              <a:ext uri="{FF2B5EF4-FFF2-40B4-BE49-F238E27FC236}">
                <a16:creationId xmlns:a16="http://schemas.microsoft.com/office/drawing/2014/main" id="{BD8A3DCA-B9D1-7E14-A134-BC277647B9B2}"/>
              </a:ext>
            </a:extLst>
          </p:cNvPr>
          <p:cNvPicPr>
            <a:picLocks noChangeAspect="1"/>
          </p:cNvPicPr>
          <p:nvPr/>
        </p:nvPicPr>
        <p:blipFill>
          <a:blip r:embed="rId2"/>
          <a:stretch>
            <a:fillRect/>
          </a:stretch>
        </p:blipFill>
        <p:spPr>
          <a:xfrm>
            <a:off x="5840247" y="1210954"/>
            <a:ext cx="6038850" cy="4686300"/>
          </a:xfrm>
          <a:prstGeom prst="rect">
            <a:avLst/>
          </a:prstGeom>
        </p:spPr>
      </p:pic>
      <p:pic>
        <p:nvPicPr>
          <p:cNvPr id="6" name="Picture 5">
            <a:extLst>
              <a:ext uri="{FF2B5EF4-FFF2-40B4-BE49-F238E27FC236}">
                <a16:creationId xmlns:a16="http://schemas.microsoft.com/office/drawing/2014/main" id="{D77274D3-DA8F-BD3A-F828-61583EFB5258}"/>
              </a:ext>
            </a:extLst>
          </p:cNvPr>
          <p:cNvPicPr>
            <a:picLocks noChangeAspect="1"/>
          </p:cNvPicPr>
          <p:nvPr/>
        </p:nvPicPr>
        <p:blipFill>
          <a:blip r:embed="rId3"/>
          <a:stretch>
            <a:fillRect/>
          </a:stretch>
        </p:blipFill>
        <p:spPr>
          <a:xfrm>
            <a:off x="343397" y="1385887"/>
            <a:ext cx="4067175" cy="4086225"/>
          </a:xfrm>
          <a:prstGeom prst="rect">
            <a:avLst/>
          </a:prstGeom>
        </p:spPr>
      </p:pic>
    </p:spTree>
    <p:extLst>
      <p:ext uri="{BB962C8B-B14F-4D97-AF65-F5344CB8AC3E}">
        <p14:creationId xmlns:p14="http://schemas.microsoft.com/office/powerpoint/2010/main" val="102587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39EC08-DC4F-3AAF-2580-3A95DC3B2172}"/>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57F5B608-C9F7-5073-5318-537E2E0210BC}"/>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4B6237F9-55EC-9563-D9F0-2C21780ED000}"/>
              </a:ext>
            </a:extLst>
          </p:cNvPr>
          <p:cNvSpPr txBox="1"/>
          <p:nvPr/>
        </p:nvSpPr>
        <p:spPr>
          <a:xfrm>
            <a:off x="602343" y="482600"/>
            <a:ext cx="87351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dirty="0">
                <a:solidFill>
                  <a:schemeClr val="accent2">
                    <a:lumMod val="75000"/>
                  </a:schemeClr>
                </a:solidFill>
                <a:latin typeface="Segoe UI"/>
                <a:cs typeface="Segoe UI"/>
              </a:rPr>
              <a:t>MICRO:BIT V2 ACTIVITIES </a:t>
            </a:r>
          </a:p>
        </p:txBody>
      </p:sp>
      <p:sp>
        <p:nvSpPr>
          <p:cNvPr id="13" name="TextBox 12">
            <a:extLst>
              <a:ext uri="{FF2B5EF4-FFF2-40B4-BE49-F238E27FC236}">
                <a16:creationId xmlns:a16="http://schemas.microsoft.com/office/drawing/2014/main" id="{F953D499-560E-FADF-BBAD-23D441F36118}"/>
              </a:ext>
            </a:extLst>
          </p:cNvPr>
          <p:cNvSpPr txBox="1"/>
          <p:nvPr/>
        </p:nvSpPr>
        <p:spPr>
          <a:xfrm>
            <a:off x="288073" y="1273098"/>
            <a:ext cx="7128735"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Experiment 2 — Remote Farm Data Station</a:t>
            </a:r>
          </a:p>
          <a:p>
            <a:r>
              <a:rPr lang="en-US" dirty="0"/>
              <a:t>Use one </a:t>
            </a:r>
            <a:r>
              <a:rPr lang="en-US" dirty="0" err="1"/>
              <a:t>micro:bit</a:t>
            </a:r>
            <a:r>
              <a:rPr lang="en-US" dirty="0"/>
              <a:t> to send a numerical sensor reading to another </a:t>
            </a:r>
            <a:r>
              <a:rPr lang="en-US" dirty="0" err="1"/>
              <a:t>micro:bit</a:t>
            </a:r>
            <a:r>
              <a:rPr lang="en-US" dirty="0"/>
              <a:t>.</a:t>
            </a:r>
          </a:p>
          <a:p>
            <a:endParaRPr lang="en-US" dirty="0"/>
          </a:p>
          <a:p>
            <a:r>
              <a:rPr lang="en-US" b="1" dirty="0"/>
              <a:t>Example:</a:t>
            </a:r>
            <a:br>
              <a:rPr lang="en-US" dirty="0"/>
            </a:br>
            <a:r>
              <a:rPr lang="en-US" dirty="0"/>
              <a:t> Send the </a:t>
            </a:r>
            <a:r>
              <a:rPr lang="en-US" dirty="0" err="1"/>
              <a:t>micro:bit</a:t>
            </a:r>
            <a:r>
              <a:rPr lang="en-US" dirty="0"/>
              <a:t> temperature reading every few seconds.</a:t>
            </a:r>
            <a:endParaRPr lang="en-US"/>
          </a:p>
          <a:p>
            <a:endParaRPr lang="en-US" dirty="0"/>
          </a:p>
          <a:p>
            <a:r>
              <a:rPr lang="en-US" b="1" dirty="0"/>
              <a:t>Concept</a:t>
            </a:r>
            <a:r>
              <a:rPr lang="en-US" dirty="0"/>
              <a:t>: radio send number + on radio received number</a:t>
            </a:r>
            <a:endParaRPr lang="en-US"/>
          </a:p>
          <a:p>
            <a:endParaRPr lang="en-US" dirty="0"/>
          </a:p>
          <a:p>
            <a:r>
              <a:rPr lang="en-US" b="1" dirty="0"/>
              <a:t>Agriculture Link</a:t>
            </a:r>
            <a:r>
              <a:rPr lang="en-US" dirty="0"/>
              <a:t>: Allows environmental data to be monitored remotely, reducing repeated manual checking.</a:t>
            </a:r>
            <a:endParaRPr lang="en-US"/>
          </a:p>
          <a:p>
            <a:endParaRPr lang="en-US" sz="2400" b="1" dirty="0">
              <a:solidFill>
                <a:srgbClr val="0F4761"/>
              </a:solidFill>
            </a:endParaRPr>
          </a:p>
        </p:txBody>
      </p:sp>
      <p:pic>
        <p:nvPicPr>
          <p:cNvPr id="5" name="Picture 4">
            <a:extLst>
              <a:ext uri="{FF2B5EF4-FFF2-40B4-BE49-F238E27FC236}">
                <a16:creationId xmlns:a16="http://schemas.microsoft.com/office/drawing/2014/main" id="{CC1ED9A9-36C4-9A82-85C0-EFD69AB78891}"/>
              </a:ext>
            </a:extLst>
          </p:cNvPr>
          <p:cNvPicPr>
            <a:picLocks noChangeAspect="1"/>
          </p:cNvPicPr>
          <p:nvPr/>
        </p:nvPicPr>
        <p:blipFill>
          <a:blip r:embed="rId3"/>
          <a:stretch>
            <a:fillRect/>
          </a:stretch>
        </p:blipFill>
        <p:spPr>
          <a:xfrm>
            <a:off x="8349127" y="325476"/>
            <a:ext cx="3838575" cy="6365024"/>
          </a:xfrm>
          <a:prstGeom prst="rect">
            <a:avLst/>
          </a:prstGeom>
        </p:spPr>
      </p:pic>
    </p:spTree>
    <p:extLst>
      <p:ext uri="{BB962C8B-B14F-4D97-AF65-F5344CB8AC3E}">
        <p14:creationId xmlns:p14="http://schemas.microsoft.com/office/powerpoint/2010/main" val="3546173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B153E-FD90-4F5A-A1E0-FF12E696F60C}"/>
              </a:ext>
            </a:extLst>
          </p:cNvPr>
          <p:cNvSpPr>
            <a:spLocks noGrp="1"/>
          </p:cNvSpPr>
          <p:nvPr>
            <p:ph sz="half" idx="2"/>
          </p:nvPr>
        </p:nvSpPr>
        <p:spPr>
          <a:xfrm>
            <a:off x="609600" y="269431"/>
            <a:ext cx="5303520" cy="390300"/>
          </a:xfrm>
        </p:spPr>
        <p:txBody>
          <a:bodyPr vert="horz" wrap="square" lIns="0" tIns="0" rIns="0" bIns="0" rtlCol="0" anchor="t">
            <a:spAutoFit/>
          </a:bodyPr>
          <a:lstStyle/>
          <a:p>
            <a:r>
              <a:rPr lang="en-US" dirty="0"/>
              <a:t>Sender</a:t>
            </a:r>
          </a:p>
        </p:txBody>
      </p:sp>
      <p:sp>
        <p:nvSpPr>
          <p:cNvPr id="4" name="Content Placeholder 3">
            <a:extLst>
              <a:ext uri="{FF2B5EF4-FFF2-40B4-BE49-F238E27FC236}">
                <a16:creationId xmlns:a16="http://schemas.microsoft.com/office/drawing/2014/main" id="{EC5740AA-4C92-A3EE-6929-C8114B87F5B1}"/>
              </a:ext>
            </a:extLst>
          </p:cNvPr>
          <p:cNvSpPr>
            <a:spLocks noGrp="1"/>
          </p:cNvSpPr>
          <p:nvPr>
            <p:ph sz="half" idx="3"/>
          </p:nvPr>
        </p:nvSpPr>
        <p:spPr>
          <a:xfrm>
            <a:off x="6745179" y="269431"/>
            <a:ext cx="5303520" cy="906338"/>
          </a:xfrm>
        </p:spPr>
        <p:txBody>
          <a:bodyPr vert="horz" wrap="square" lIns="0" tIns="0" rIns="0" bIns="0" rtlCol="0" anchor="t">
            <a:spAutoFit/>
          </a:bodyPr>
          <a:lstStyle/>
          <a:p>
            <a:r>
              <a:rPr lang="en-US" dirty="0"/>
              <a:t>Receiver</a:t>
            </a:r>
          </a:p>
          <a:p>
            <a:endParaRPr lang="en-US" dirty="0"/>
          </a:p>
        </p:txBody>
      </p:sp>
      <p:pic>
        <p:nvPicPr>
          <p:cNvPr id="5" name="Picture 4">
            <a:extLst>
              <a:ext uri="{FF2B5EF4-FFF2-40B4-BE49-F238E27FC236}">
                <a16:creationId xmlns:a16="http://schemas.microsoft.com/office/drawing/2014/main" id="{AEF7D2ED-ECA3-3FA2-1FCD-D64F166937F9}"/>
              </a:ext>
            </a:extLst>
          </p:cNvPr>
          <p:cNvPicPr>
            <a:picLocks noChangeAspect="1"/>
          </p:cNvPicPr>
          <p:nvPr/>
        </p:nvPicPr>
        <p:blipFill>
          <a:blip r:embed="rId2"/>
          <a:stretch>
            <a:fillRect/>
          </a:stretch>
        </p:blipFill>
        <p:spPr>
          <a:xfrm>
            <a:off x="571500" y="839409"/>
            <a:ext cx="4953000" cy="4314825"/>
          </a:xfrm>
          <a:prstGeom prst="rect">
            <a:avLst/>
          </a:prstGeom>
        </p:spPr>
      </p:pic>
      <p:pic>
        <p:nvPicPr>
          <p:cNvPr id="6" name="Picture 5">
            <a:extLst>
              <a:ext uri="{FF2B5EF4-FFF2-40B4-BE49-F238E27FC236}">
                <a16:creationId xmlns:a16="http://schemas.microsoft.com/office/drawing/2014/main" id="{EB859E8D-AAFB-4F07-2FFA-0F01AA19B28E}"/>
              </a:ext>
            </a:extLst>
          </p:cNvPr>
          <p:cNvPicPr>
            <a:picLocks noChangeAspect="1"/>
          </p:cNvPicPr>
          <p:nvPr/>
        </p:nvPicPr>
        <p:blipFill>
          <a:blip r:embed="rId3"/>
          <a:stretch>
            <a:fillRect/>
          </a:stretch>
        </p:blipFill>
        <p:spPr>
          <a:xfrm>
            <a:off x="6411747" y="837844"/>
            <a:ext cx="4895850" cy="4181475"/>
          </a:xfrm>
          <a:prstGeom prst="rect">
            <a:avLst/>
          </a:prstGeom>
        </p:spPr>
      </p:pic>
    </p:spTree>
    <p:extLst>
      <p:ext uri="{BB962C8B-B14F-4D97-AF65-F5344CB8AC3E}">
        <p14:creationId xmlns:p14="http://schemas.microsoft.com/office/powerpoint/2010/main" val="1947544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918CF3-7F40-E082-BB03-FABCC613FD55}"/>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C7C3208C-BD6A-1F28-2FE1-FA818457AD01}"/>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E2101667-74CF-46B1-1A95-15B7DBABCE4D}"/>
              </a:ext>
            </a:extLst>
          </p:cNvPr>
          <p:cNvSpPr txBox="1"/>
          <p:nvPr/>
        </p:nvSpPr>
        <p:spPr>
          <a:xfrm>
            <a:off x="128416" y="352502"/>
            <a:ext cx="87351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spc="-25" dirty="0">
                <a:solidFill>
                  <a:schemeClr val="accent2">
                    <a:lumMod val="75000"/>
                  </a:schemeClr>
                </a:solidFill>
                <a:latin typeface="Segoe UI"/>
                <a:cs typeface="Segoe UI"/>
              </a:rPr>
              <a:t>MICRO:BIT V2 ACTIVITIES </a:t>
            </a:r>
          </a:p>
        </p:txBody>
      </p:sp>
      <p:pic>
        <p:nvPicPr>
          <p:cNvPr id="2" name="Picture 1">
            <a:extLst>
              <a:ext uri="{FF2B5EF4-FFF2-40B4-BE49-F238E27FC236}">
                <a16:creationId xmlns:a16="http://schemas.microsoft.com/office/drawing/2014/main" id="{B389D9BC-B3C7-E8AC-688F-E5E1255897D2}"/>
              </a:ext>
            </a:extLst>
          </p:cNvPr>
          <p:cNvPicPr>
            <a:picLocks noChangeAspect="1"/>
          </p:cNvPicPr>
          <p:nvPr/>
        </p:nvPicPr>
        <p:blipFill>
          <a:blip r:embed="rId3"/>
          <a:stretch>
            <a:fillRect/>
          </a:stretch>
        </p:blipFill>
        <p:spPr>
          <a:xfrm>
            <a:off x="7794702" y="225348"/>
            <a:ext cx="3962400" cy="6667500"/>
          </a:xfrm>
          <a:prstGeom prst="rect">
            <a:avLst/>
          </a:prstGeom>
        </p:spPr>
      </p:pic>
      <p:sp>
        <p:nvSpPr>
          <p:cNvPr id="6" name="TextBox 5">
            <a:extLst>
              <a:ext uri="{FF2B5EF4-FFF2-40B4-BE49-F238E27FC236}">
                <a16:creationId xmlns:a16="http://schemas.microsoft.com/office/drawing/2014/main" id="{04254E38-7576-71EF-0D6B-D333AE01E6F5}"/>
              </a:ext>
            </a:extLst>
          </p:cNvPr>
          <p:cNvSpPr txBox="1"/>
          <p:nvPr/>
        </p:nvSpPr>
        <p:spPr>
          <a:xfrm>
            <a:off x="9293" y="1152293"/>
            <a:ext cx="596520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Experiment 3 — Smart Farm Sensor Network</a:t>
            </a:r>
          </a:p>
          <a:p>
            <a:r>
              <a:rPr lang="en-US" dirty="0"/>
              <a:t>Send both the </a:t>
            </a:r>
            <a:r>
              <a:rPr lang="en-US" b="1" dirty="0"/>
              <a:t>sensor name and its value</a:t>
            </a:r>
            <a:r>
              <a:rPr lang="en-US" dirty="0"/>
              <a:t> so the receiver knows what the data represents.</a:t>
            </a:r>
          </a:p>
          <a:p>
            <a:endParaRPr lang="en-US" b="1" dirty="0"/>
          </a:p>
          <a:p>
            <a:endParaRPr lang="en-US" b="1" dirty="0"/>
          </a:p>
          <a:p>
            <a:r>
              <a:rPr lang="en-US" b="1" dirty="0"/>
              <a:t>Concept:</a:t>
            </a:r>
            <a:r>
              <a:rPr lang="en-US" dirty="0"/>
              <a:t> radio send value + on radio received name value</a:t>
            </a:r>
            <a:endParaRPr lang="en-US"/>
          </a:p>
          <a:p>
            <a:endParaRPr lang="en-US" b="1" dirty="0"/>
          </a:p>
          <a:p>
            <a:r>
              <a:rPr lang="en-US" b="1" dirty="0"/>
              <a:t>Agriculture Link:</a:t>
            </a:r>
            <a:r>
              <a:rPr lang="en-US" dirty="0"/>
              <a:t> Multiple farm conditions can be sent to one monitoring station for easier decision-making.</a:t>
            </a:r>
            <a:endParaRPr lang="en-US"/>
          </a:p>
          <a:p>
            <a:pPr algn="ctr"/>
            <a:endParaRPr lang="en-US"/>
          </a:p>
        </p:txBody>
      </p:sp>
    </p:spTree>
    <p:extLst>
      <p:ext uri="{BB962C8B-B14F-4D97-AF65-F5344CB8AC3E}">
        <p14:creationId xmlns:p14="http://schemas.microsoft.com/office/powerpoint/2010/main" val="520258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4666CE-70A5-609F-DB84-507D8F5136AF}"/>
              </a:ext>
            </a:extLst>
          </p:cNvPr>
          <p:cNvSpPr>
            <a:spLocks noGrp="1"/>
          </p:cNvSpPr>
          <p:nvPr>
            <p:ph sz="half" idx="2"/>
          </p:nvPr>
        </p:nvSpPr>
        <p:spPr>
          <a:xfrm>
            <a:off x="393510" y="587878"/>
            <a:ext cx="5303520" cy="390300"/>
          </a:xfrm>
        </p:spPr>
        <p:txBody>
          <a:bodyPr vert="horz" wrap="square" lIns="0" tIns="0" rIns="0" bIns="0" rtlCol="0" anchor="t">
            <a:spAutoFit/>
          </a:bodyPr>
          <a:lstStyle/>
          <a:p>
            <a:r>
              <a:rPr lang="en-US" dirty="0"/>
              <a:t>Sender</a:t>
            </a:r>
          </a:p>
        </p:txBody>
      </p:sp>
      <p:sp>
        <p:nvSpPr>
          <p:cNvPr id="4" name="Content Placeholder 3">
            <a:extLst>
              <a:ext uri="{FF2B5EF4-FFF2-40B4-BE49-F238E27FC236}">
                <a16:creationId xmlns:a16="http://schemas.microsoft.com/office/drawing/2014/main" id="{F20F8019-F067-471A-7F1C-0A73283101B4}"/>
              </a:ext>
            </a:extLst>
          </p:cNvPr>
          <p:cNvSpPr>
            <a:spLocks noGrp="1"/>
          </p:cNvSpPr>
          <p:nvPr>
            <p:ph sz="half" idx="3"/>
          </p:nvPr>
        </p:nvSpPr>
        <p:spPr>
          <a:xfrm>
            <a:off x="6608701" y="587878"/>
            <a:ext cx="5303520" cy="906338"/>
          </a:xfrm>
        </p:spPr>
        <p:txBody>
          <a:bodyPr vert="horz" wrap="square" lIns="0" tIns="0" rIns="0" bIns="0" rtlCol="0" anchor="t">
            <a:spAutoFit/>
          </a:bodyPr>
          <a:lstStyle/>
          <a:p>
            <a:r>
              <a:rPr lang="en-US" dirty="0"/>
              <a:t>Receiver</a:t>
            </a:r>
          </a:p>
          <a:p>
            <a:endParaRPr lang="en-US" dirty="0"/>
          </a:p>
        </p:txBody>
      </p:sp>
      <p:pic>
        <p:nvPicPr>
          <p:cNvPr id="5" name="Picture 4">
            <a:extLst>
              <a:ext uri="{FF2B5EF4-FFF2-40B4-BE49-F238E27FC236}">
                <a16:creationId xmlns:a16="http://schemas.microsoft.com/office/drawing/2014/main" id="{DF812065-BAB5-8272-256B-F8B3BB78ADDB}"/>
              </a:ext>
            </a:extLst>
          </p:cNvPr>
          <p:cNvPicPr>
            <a:picLocks noChangeAspect="1"/>
          </p:cNvPicPr>
          <p:nvPr/>
        </p:nvPicPr>
        <p:blipFill>
          <a:blip r:embed="rId2"/>
          <a:stretch>
            <a:fillRect/>
          </a:stretch>
        </p:blipFill>
        <p:spPr>
          <a:xfrm>
            <a:off x="1155226" y="1719902"/>
            <a:ext cx="3467100" cy="2781300"/>
          </a:xfrm>
          <a:prstGeom prst="rect">
            <a:avLst/>
          </a:prstGeom>
        </p:spPr>
      </p:pic>
      <p:pic>
        <p:nvPicPr>
          <p:cNvPr id="6" name="Picture 5">
            <a:extLst>
              <a:ext uri="{FF2B5EF4-FFF2-40B4-BE49-F238E27FC236}">
                <a16:creationId xmlns:a16="http://schemas.microsoft.com/office/drawing/2014/main" id="{3C0F8864-12FE-2D6B-5593-00D9D77809D0}"/>
              </a:ext>
            </a:extLst>
          </p:cNvPr>
          <p:cNvPicPr>
            <a:picLocks noChangeAspect="1"/>
          </p:cNvPicPr>
          <p:nvPr/>
        </p:nvPicPr>
        <p:blipFill>
          <a:blip r:embed="rId3"/>
          <a:stretch>
            <a:fillRect/>
          </a:stretch>
        </p:blipFill>
        <p:spPr>
          <a:xfrm>
            <a:off x="6608502" y="1721538"/>
            <a:ext cx="2000250" cy="981075"/>
          </a:xfrm>
          <a:prstGeom prst="rect">
            <a:avLst/>
          </a:prstGeom>
        </p:spPr>
      </p:pic>
      <p:pic>
        <p:nvPicPr>
          <p:cNvPr id="7" name="Picture 6">
            <a:extLst>
              <a:ext uri="{FF2B5EF4-FFF2-40B4-BE49-F238E27FC236}">
                <a16:creationId xmlns:a16="http://schemas.microsoft.com/office/drawing/2014/main" id="{ED5E3033-E6A6-A687-C002-F2DB47CC36B2}"/>
              </a:ext>
            </a:extLst>
          </p:cNvPr>
          <p:cNvPicPr>
            <a:picLocks noChangeAspect="1"/>
          </p:cNvPicPr>
          <p:nvPr/>
        </p:nvPicPr>
        <p:blipFill>
          <a:blip r:embed="rId4"/>
          <a:stretch>
            <a:fillRect/>
          </a:stretch>
        </p:blipFill>
        <p:spPr>
          <a:xfrm>
            <a:off x="6610776" y="2724150"/>
            <a:ext cx="2609850" cy="1409700"/>
          </a:xfrm>
          <a:prstGeom prst="rect">
            <a:avLst/>
          </a:prstGeom>
        </p:spPr>
      </p:pic>
    </p:spTree>
    <p:extLst>
      <p:ext uri="{BB962C8B-B14F-4D97-AF65-F5344CB8AC3E}">
        <p14:creationId xmlns:p14="http://schemas.microsoft.com/office/powerpoint/2010/main" val="3820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E25C86-D22E-FC15-FBD2-A91A5BEADCA7}"/>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70B87176-A149-C9F1-9F02-CCCB4C1FF3BE}"/>
              </a:ext>
            </a:extLst>
          </p:cNvPr>
          <p:cNvPicPr/>
          <p:nvPr/>
        </p:nvPicPr>
        <p:blipFill>
          <a:blip r:embed="rId2" cstate="print"/>
          <a:stretch>
            <a:fillRect/>
          </a:stretch>
        </p:blipFill>
        <p:spPr>
          <a:xfrm>
            <a:off x="4715" y="0"/>
            <a:ext cx="12192321" cy="223619"/>
          </a:xfrm>
          <a:prstGeom prst="rect">
            <a:avLst/>
          </a:prstGeom>
        </p:spPr>
      </p:pic>
      <p:sp>
        <p:nvSpPr>
          <p:cNvPr id="4" name="TextBox 3">
            <a:extLst>
              <a:ext uri="{FF2B5EF4-FFF2-40B4-BE49-F238E27FC236}">
                <a16:creationId xmlns:a16="http://schemas.microsoft.com/office/drawing/2014/main" id="{235ECD9B-ADAC-C5E6-3511-01997590633F}"/>
              </a:ext>
            </a:extLst>
          </p:cNvPr>
          <p:cNvSpPr txBox="1"/>
          <p:nvPr/>
        </p:nvSpPr>
        <p:spPr>
          <a:xfrm>
            <a:off x="602343" y="482600"/>
            <a:ext cx="8735121"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spc="-25" dirty="0">
              <a:solidFill>
                <a:srgbClr val="0C274A"/>
              </a:solidFill>
              <a:highlight>
                <a:srgbClr val="E8F3FE"/>
              </a:highlight>
              <a:latin typeface="Calibri"/>
              <a:ea typeface="Calibri"/>
              <a:cs typeface="Calibri"/>
            </a:endParaRPr>
          </a:p>
          <a:p>
            <a:r>
              <a:rPr lang="en-US" sz="2400" b="1" dirty="0">
                <a:latin typeface="Calibri"/>
                <a:ea typeface="Calibri"/>
                <a:cs typeface="Calibri"/>
              </a:rPr>
              <a:t>Experiment 4 — Radio Signal Strength Test</a:t>
            </a:r>
            <a:endParaRPr lang="en-US" sz="2400">
              <a:latin typeface="Calibri"/>
              <a:ea typeface="Calibri"/>
              <a:cs typeface="Calibri"/>
            </a:endParaRPr>
          </a:p>
          <a:p>
            <a:endParaRPr lang="en-US" sz="4800" b="1" spc="-25" dirty="0">
              <a:solidFill>
                <a:schemeClr val="accent2">
                  <a:lumMod val="75000"/>
                </a:schemeClr>
              </a:solidFill>
              <a:latin typeface="Calibri"/>
              <a:ea typeface="Calibri"/>
              <a:cs typeface="Calibri"/>
            </a:endParaRPr>
          </a:p>
        </p:txBody>
      </p:sp>
      <p:sp>
        <p:nvSpPr>
          <p:cNvPr id="5" name="TextBox 4">
            <a:extLst>
              <a:ext uri="{FF2B5EF4-FFF2-40B4-BE49-F238E27FC236}">
                <a16:creationId xmlns:a16="http://schemas.microsoft.com/office/drawing/2014/main" id="{490EB65E-74FC-589E-749C-2C808C31457F}"/>
              </a:ext>
            </a:extLst>
          </p:cNvPr>
          <p:cNvSpPr txBox="1"/>
          <p:nvPr/>
        </p:nvSpPr>
        <p:spPr>
          <a:xfrm>
            <a:off x="575673" y="1449659"/>
            <a:ext cx="11597898" cy="50383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dirty="0">
                <a:ea typeface="+mn-lt"/>
                <a:cs typeface="+mn-lt"/>
              </a:rPr>
              <a:t>One </a:t>
            </a:r>
            <a:r>
              <a:rPr lang="en-US" dirty="0" err="1">
                <a:ea typeface="+mn-lt"/>
                <a:cs typeface="+mn-lt"/>
              </a:rPr>
              <a:t>micro:bit</a:t>
            </a:r>
            <a:r>
              <a:rPr lang="en-US" dirty="0">
                <a:ea typeface="+mn-lt"/>
                <a:cs typeface="+mn-lt"/>
              </a:rPr>
              <a:t> acts as the </a:t>
            </a:r>
            <a:r>
              <a:rPr lang="en-US" b="1" dirty="0">
                <a:ea typeface="+mn-lt"/>
                <a:cs typeface="+mn-lt"/>
              </a:rPr>
              <a:t>sender</a:t>
            </a:r>
            <a:r>
              <a:rPr lang="en-US" dirty="0">
                <a:ea typeface="+mn-lt"/>
                <a:cs typeface="+mn-lt"/>
              </a:rPr>
              <a:t> and continuously sends the number </a:t>
            </a:r>
            <a:r>
              <a:rPr lang="en-US" b="1" dirty="0">
                <a:ea typeface="+mn-lt"/>
                <a:cs typeface="+mn-lt"/>
              </a:rPr>
              <a:t>1</a:t>
            </a:r>
            <a:r>
              <a:rPr lang="en-US" dirty="0">
                <a:ea typeface="+mn-lt"/>
                <a:cs typeface="+mn-lt"/>
              </a:rPr>
              <a:t> every </a:t>
            </a:r>
            <a:r>
              <a:rPr lang="en-US" b="1" dirty="0">
                <a:ea typeface="+mn-lt"/>
                <a:cs typeface="+mn-lt"/>
              </a:rPr>
              <a:t>5 seconds</a:t>
            </a:r>
            <a:r>
              <a:rPr lang="en-US" dirty="0">
                <a:ea typeface="+mn-lt"/>
                <a:cs typeface="+mn-lt"/>
              </a:rPr>
              <a:t> on </a:t>
            </a:r>
            <a:r>
              <a:rPr lang="en-US" b="1" dirty="0">
                <a:ea typeface="+mn-lt"/>
                <a:cs typeface="+mn-lt"/>
              </a:rPr>
              <a:t>Radio Group 10</a:t>
            </a:r>
            <a:r>
              <a:rPr lang="en-US" dirty="0">
                <a:ea typeface="+mn-lt"/>
                <a:cs typeface="+mn-lt"/>
              </a:rPr>
              <a:t>. A second </a:t>
            </a:r>
            <a:r>
              <a:rPr lang="en-US" dirty="0" err="1">
                <a:ea typeface="+mn-lt"/>
                <a:cs typeface="+mn-lt"/>
              </a:rPr>
              <a:t>micro:bit</a:t>
            </a:r>
            <a:r>
              <a:rPr lang="en-US" dirty="0">
                <a:ea typeface="+mn-lt"/>
                <a:cs typeface="+mn-lt"/>
              </a:rPr>
              <a:t>, set to the same radio group, receives the message and displays the </a:t>
            </a:r>
            <a:r>
              <a:rPr lang="en-US" b="1" dirty="0">
                <a:ea typeface="+mn-lt"/>
                <a:cs typeface="+mn-lt"/>
              </a:rPr>
              <a:t>signal strength</a:t>
            </a:r>
            <a:r>
              <a:rPr lang="en-US" dirty="0">
                <a:ea typeface="+mn-lt"/>
                <a:cs typeface="+mn-lt"/>
              </a:rPr>
              <a:t> of the received radio packet.</a:t>
            </a:r>
            <a:endParaRPr lang="en-US" dirty="0"/>
          </a:p>
          <a:p>
            <a:pPr marL="285750" indent="-285750">
              <a:lnSpc>
                <a:spcPct val="150000"/>
              </a:lnSpc>
              <a:buFont typeface="Arial"/>
              <a:buChar char="•"/>
            </a:pPr>
            <a:r>
              <a:rPr lang="en-US" dirty="0">
                <a:ea typeface="+mn-lt"/>
                <a:cs typeface="+mn-lt"/>
              </a:rPr>
              <a:t>Students can keep the two </a:t>
            </a:r>
            <a:r>
              <a:rPr lang="en-US" dirty="0" err="1">
                <a:ea typeface="+mn-lt"/>
                <a:cs typeface="+mn-lt"/>
              </a:rPr>
              <a:t>micro:bits</a:t>
            </a:r>
            <a:r>
              <a:rPr lang="en-US" dirty="0">
                <a:ea typeface="+mn-lt"/>
                <a:cs typeface="+mn-lt"/>
              </a:rPr>
              <a:t> at the same distance and place different materials between them, such as a </a:t>
            </a:r>
            <a:r>
              <a:rPr lang="en-US" b="1" dirty="0">
                <a:ea typeface="+mn-lt"/>
                <a:cs typeface="+mn-lt"/>
              </a:rPr>
              <a:t>book, water bottle, cardboard, or metal object</a:t>
            </a:r>
            <a:r>
              <a:rPr lang="en-US" dirty="0">
                <a:ea typeface="+mn-lt"/>
                <a:cs typeface="+mn-lt"/>
              </a:rPr>
              <a:t>. They can record how the signal strength changes.</a:t>
            </a:r>
          </a:p>
          <a:p>
            <a:pPr>
              <a:lnSpc>
                <a:spcPct val="150000"/>
              </a:lnSpc>
            </a:pPr>
            <a:r>
              <a:rPr lang="en-US" b="1" dirty="0">
                <a:ea typeface="+mn-lt"/>
                <a:cs typeface="+mn-lt"/>
              </a:rPr>
              <a:t>Remember:</a:t>
            </a:r>
            <a:endParaRPr lang="en-US" dirty="0"/>
          </a:p>
          <a:p>
            <a:pPr marL="285750" indent="-285750">
              <a:lnSpc>
                <a:spcPct val="150000"/>
              </a:lnSpc>
              <a:buFont typeface="Arial"/>
              <a:buChar char="•"/>
            </a:pPr>
            <a:r>
              <a:rPr lang="en-US" b="1" dirty="0">
                <a:ea typeface="+mn-lt"/>
                <a:cs typeface="+mn-lt"/>
              </a:rPr>
              <a:t>Closer to 0 = stronger signal</a:t>
            </a:r>
            <a:endParaRPr lang="en-US" dirty="0"/>
          </a:p>
          <a:p>
            <a:pPr marL="285750" indent="-285750">
              <a:lnSpc>
                <a:spcPct val="150000"/>
              </a:lnSpc>
              <a:buFont typeface="Arial"/>
              <a:buChar char="•"/>
            </a:pPr>
            <a:r>
              <a:rPr lang="en-US" b="1" dirty="0">
                <a:ea typeface="+mn-lt"/>
                <a:cs typeface="+mn-lt"/>
              </a:rPr>
              <a:t>More negative = weaker signal</a:t>
            </a:r>
            <a:endParaRPr lang="en-US" dirty="0"/>
          </a:p>
          <a:p>
            <a:pPr marL="285750" indent="-285750">
              <a:lnSpc>
                <a:spcPct val="150000"/>
              </a:lnSpc>
              <a:buFont typeface="Arial"/>
              <a:buChar char="•"/>
            </a:pPr>
            <a:r>
              <a:rPr lang="en-US" b="1" dirty="0">
                <a:ea typeface="+mn-lt"/>
                <a:cs typeface="+mn-lt"/>
              </a:rPr>
              <a:t>Agricultural Connection:</a:t>
            </a:r>
            <a:r>
              <a:rPr lang="en-US" dirty="0">
                <a:ea typeface="+mn-lt"/>
                <a:cs typeface="+mn-lt"/>
              </a:rPr>
              <a:t> Wireless sensors placed around farms, greenhouses, or barns may experience weaker signals when walls, water, plants, or equipment are between devices. This experiment helps students understand how the environment can affect wireless communication.</a:t>
            </a:r>
          </a:p>
          <a:p>
            <a:pPr marL="285750" indent="-285750">
              <a:lnSpc>
                <a:spcPct val="150000"/>
              </a:lnSpc>
              <a:buFont typeface="Arial"/>
              <a:buChar char="•"/>
            </a:pPr>
            <a:endParaRPr lang="en-US" b="1" dirty="0"/>
          </a:p>
        </p:txBody>
      </p:sp>
    </p:spTree>
    <p:extLst>
      <p:ext uri="{BB962C8B-B14F-4D97-AF65-F5344CB8AC3E}">
        <p14:creationId xmlns:p14="http://schemas.microsoft.com/office/powerpoint/2010/main" val="1880257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4C73CA-103F-D9BF-D693-F7E5B54377F7}"/>
              </a:ext>
            </a:extLst>
          </p:cNvPr>
          <p:cNvSpPr>
            <a:spLocks noGrp="1"/>
          </p:cNvSpPr>
          <p:nvPr>
            <p:ph sz="half" idx="2"/>
          </p:nvPr>
        </p:nvSpPr>
        <p:spPr>
          <a:xfrm>
            <a:off x="402956" y="492460"/>
            <a:ext cx="5303520" cy="390300"/>
          </a:xfrm>
        </p:spPr>
        <p:txBody>
          <a:bodyPr vert="horz" wrap="square" lIns="0" tIns="0" rIns="0" bIns="0" rtlCol="0" anchor="t">
            <a:spAutoFit/>
          </a:bodyPr>
          <a:lstStyle/>
          <a:p>
            <a:r>
              <a:rPr lang="en-US" dirty="0"/>
              <a:t>Sender</a:t>
            </a:r>
          </a:p>
        </p:txBody>
      </p:sp>
      <p:sp>
        <p:nvSpPr>
          <p:cNvPr id="4" name="Content Placeholder 3">
            <a:extLst>
              <a:ext uri="{FF2B5EF4-FFF2-40B4-BE49-F238E27FC236}">
                <a16:creationId xmlns:a16="http://schemas.microsoft.com/office/drawing/2014/main" id="{1841252A-9316-5662-5E42-8419826AAB4B}"/>
              </a:ext>
            </a:extLst>
          </p:cNvPr>
          <p:cNvSpPr>
            <a:spLocks noGrp="1"/>
          </p:cNvSpPr>
          <p:nvPr>
            <p:ph sz="half" idx="3"/>
          </p:nvPr>
        </p:nvSpPr>
        <p:spPr>
          <a:xfrm>
            <a:off x="7312101" y="427883"/>
            <a:ext cx="5303520" cy="906338"/>
          </a:xfrm>
        </p:spPr>
        <p:txBody>
          <a:bodyPr vert="horz" wrap="square" lIns="0" tIns="0" rIns="0" bIns="0" rtlCol="0" anchor="t">
            <a:spAutoFit/>
          </a:bodyPr>
          <a:lstStyle/>
          <a:p>
            <a:r>
              <a:rPr lang="en-US" dirty="0"/>
              <a:t>Receiver</a:t>
            </a:r>
          </a:p>
          <a:p>
            <a:endParaRPr lang="en-US" dirty="0"/>
          </a:p>
        </p:txBody>
      </p:sp>
      <p:pic>
        <p:nvPicPr>
          <p:cNvPr id="6" name="Picture 5">
            <a:extLst>
              <a:ext uri="{FF2B5EF4-FFF2-40B4-BE49-F238E27FC236}">
                <a16:creationId xmlns:a16="http://schemas.microsoft.com/office/drawing/2014/main" id="{C32C3F3C-99D9-ADB5-39F5-B3FBE8FD53DC}"/>
              </a:ext>
            </a:extLst>
          </p:cNvPr>
          <p:cNvPicPr>
            <a:picLocks noChangeAspect="1"/>
          </p:cNvPicPr>
          <p:nvPr/>
        </p:nvPicPr>
        <p:blipFill>
          <a:blip r:embed="rId2"/>
          <a:stretch>
            <a:fillRect/>
          </a:stretch>
        </p:blipFill>
        <p:spPr>
          <a:xfrm>
            <a:off x="5576645" y="1717164"/>
            <a:ext cx="6153150" cy="3552825"/>
          </a:xfrm>
          <a:prstGeom prst="rect">
            <a:avLst/>
          </a:prstGeom>
        </p:spPr>
      </p:pic>
      <p:pic>
        <p:nvPicPr>
          <p:cNvPr id="7" name="Picture 6">
            <a:extLst>
              <a:ext uri="{FF2B5EF4-FFF2-40B4-BE49-F238E27FC236}">
                <a16:creationId xmlns:a16="http://schemas.microsoft.com/office/drawing/2014/main" id="{AB04B9CB-371B-7E02-4C34-0B0B1078DDD9}"/>
              </a:ext>
            </a:extLst>
          </p:cNvPr>
          <p:cNvPicPr>
            <a:picLocks noChangeAspect="1"/>
          </p:cNvPicPr>
          <p:nvPr/>
        </p:nvPicPr>
        <p:blipFill>
          <a:blip r:embed="rId3"/>
          <a:stretch>
            <a:fillRect/>
          </a:stretch>
        </p:blipFill>
        <p:spPr>
          <a:xfrm>
            <a:off x="648992" y="1524000"/>
            <a:ext cx="3429000" cy="3810000"/>
          </a:xfrm>
          <a:prstGeom prst="rect">
            <a:avLst/>
          </a:prstGeom>
        </p:spPr>
      </p:pic>
    </p:spTree>
    <p:extLst>
      <p:ext uri="{BB962C8B-B14F-4D97-AF65-F5344CB8AC3E}">
        <p14:creationId xmlns:p14="http://schemas.microsoft.com/office/powerpoint/2010/main" val="3904668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Content Placeholder 10">
            <a:extLst>
              <a:ext uri="{FF2B5EF4-FFF2-40B4-BE49-F238E27FC236}">
                <a16:creationId xmlns:a16="http://schemas.microsoft.com/office/drawing/2014/main" id="{F83A52EA-9EF0-64F2-BE19-C8640F52E180}"/>
              </a:ext>
            </a:extLst>
          </p:cNvPr>
          <p:cNvPicPr>
            <a:picLocks noGrp="1" noChangeAspect="1"/>
          </p:cNvPicPr>
          <p:nvPr>
            <p:ph sz="half" idx="3"/>
          </p:nvPr>
        </p:nvPicPr>
        <p:blipFill>
          <a:blip r:embed="rId2"/>
          <a:srcRect b="15746"/>
          <a:stretch>
            <a:fillRect/>
          </a:stretch>
        </p:blipFill>
        <p:spPr>
          <a:xfrm>
            <a:off x="20" y="1282"/>
            <a:ext cx="12191980" cy="6856718"/>
          </a:xfrm>
          <a:prstGeom prst="rect">
            <a:avLst/>
          </a:prstGeom>
        </p:spPr>
      </p:pic>
    </p:spTree>
    <p:extLst>
      <p:ext uri="{BB962C8B-B14F-4D97-AF65-F5344CB8AC3E}">
        <p14:creationId xmlns:p14="http://schemas.microsoft.com/office/powerpoint/2010/main" val="2607460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901</Words>
  <Application>Microsoft Office PowerPoint</Application>
  <PresentationFormat>Widescreen</PresentationFormat>
  <Paragraphs>106</Paragraphs>
  <Slides>19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Aptos</vt:lpstr>
      <vt:lpstr>Aptos Display</vt:lpstr>
      <vt:lpstr>Arial</vt:lpstr>
      <vt:lpstr>Atkinson Hyperlegible</vt:lpstr>
      <vt:lpstr>Atkinson Hyperlegible Bold</vt:lpstr>
      <vt:lpstr>Calibri</vt:lpstr>
      <vt:lpstr>Gentona Book</vt:lpstr>
      <vt:lpstr>Obviously Extd Medi</vt:lpstr>
      <vt:lpstr>Obviously Wide Lght</vt:lpstr>
      <vt:lpstr>Obviously-ExtdBlck</vt:lpstr>
      <vt:lpstr>Obviously-WideSemi</vt:lpstr>
      <vt:lpstr>Segoe UI</vt:lpstr>
      <vt:lpstr>Times New Roman</vt:lpstr>
      <vt:lpstr>office theme</vt:lpstr>
      <vt:lpstr>INTRODUCTION TO ROBOTICS WITH MICRO:BIT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Inbamani, Abinaya</cp:lastModifiedBy>
  <cp:revision>173</cp:revision>
  <dcterms:created xsi:type="dcterms:W3CDTF">2013-07-15T20:26:40Z</dcterms:created>
  <dcterms:modified xsi:type="dcterms:W3CDTF">2026-10-06T21:17:46Z</dcterms:modified>
</cp:coreProperties>
</file>